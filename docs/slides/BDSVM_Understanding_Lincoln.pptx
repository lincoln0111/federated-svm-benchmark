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Today I want to share my understanding of the BDSVM paper — Budget Distributed SVM for Non-IID Federated Learning, published in ACM TIST 2022. I have spent the past week reading through the paper and mapping it to the MMLL implementation. I will go through the core algorithm, the distributed design, and what I still do not fully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starts by identifying the problems with traditional Dual SVM in a distributed setting. First, the number of support vectors is hard to control, so the model can become very complex. Second, solving the dual problem requires quadratic programming, which is computationally expensive. Third, in a distributed setting, you would need to share information about support vectors across nodes, which is both costly and a privacy risk. BDSVM proposes to fix all of these by using a budget constraint and solving in primal space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question I was most uncertain about. After reading Section 2.1 carefully, and after discussing with Govind and Professor Haimonti, we confirmed that BDSVM is a Primal algorithm. The paper uses Dual SVM only as motivation — to explain what the drawbacks are. The actual optimization is done entirely in primal space using IRWLS, which stands for Iteratively Reweighted Least Squares. No dual variables alpha are ever computed or communicated. Govind confirmed this on May 22nd, and the quote is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single-node version of BDSVM, which I used as the foundation for understanding the algorithm. There are six steps. First, initialize weights to zero and randomly generate P pre-image vectors, which are the centroids or budget vectors. Second, compute the kernel matrix K between training data and these centroids, and store it — this is only done once. Then in each iteration: compute prediction errors, compute the IRWLS reweighting coefficients a_i, solve the weighted least squares system to get new weights, and update using a convex combination with a line search parameter lambda. Repeat until convergence.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distributed version. The aggregator and each worker run different algorithms in parallel. The aggregator generates a random seed S and shares it with all workers so everyone builds the same centroids independently — no centroid data needs to be transmitted. Then each round, the aggregator broadcasts the current weights beta to all workers. Each worker computes its local error, computes the IRWLS weights, and then computes two local statistics: C_m which is the local Gram matrix, and d_m which is a vector. The worker then compresses these and sends them back. The aggregator aggregates all C_m and d_m, solves for new weights, applies a line search update, and repeats.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BDSVM communication-efficient is what gets exchanged. The aggregator only sends the model weights beta each round — a small vector of size P plus one. The workers only send back the compressed Gram matrix C_m and vector d_m. Critically, no raw data is ever sent, and no gradients are sent either. This is different from FedAvg which sends full model gradients. The paper also has a smart compression choice — workers compare the cost of sending a QR decomposition versus sending the upper triangle of C_m, and choose whichever is cheaper. There is also a timeout mechanism so slow workers do not block the whole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shows exactly how each step of the paper's Algorithm 2 and 3 maps to the MMLL code in DSVM dot py. For example, the seed generation in Algorithm 2 Line 2 corresponds to the seed and numpy random uniform calls in TakeAction underscore Master. The IRWLS weight computation in Algorithm 3 Line 6 is the line a equals two times C divided by eps in the worker code. The Gram matrix is computed as KXC transpose times KXC times a. The compression choice maps directly to the if-else block that selects between QR decomposition and upper triangular form. And the line search update in the master matches Algorithm 2 Line 8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ran a quick single-machine simulation to verify the algorithm works correctly. On MNIST binary classification — digit zero versus all others — using only 50 budget vectors and 5 IRWLS iterations, the model achieves 98.5 percent test accuracy and a ROC-AUC of 98.68 percent, in about 7 seconds. This confirms the algorithm is implemented correctly. I want to be clear that this is a single-machine simulation — it does not use the MMLL Comms layer with real distributed workers. The true distributed version would require multiple worker processes communicating over a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honest about what I still do not fully understand. The FL framework question is now confirmed — MMLL uses its own POM1 framework, and BDSVM is Primal. But I still do not know how to run the real distributed version with actual worker processes. I also want to understand better how BDSVM compares to Gossip-based approaches like COCOA and COCOA plus, which Kanika is working on. And the next concrete step is running BDSVM on the SDCA benchmark datasets and comparing it against the other four algorithms for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this week I confirmed BDSVM is a Primal IRWLS algorithm using MMLL's POM1 framework. I have read through the full algorithm and mapped it to the code. Next week I plan to run benchmarks on the SDCA datasets and start comparing with the other algorithms. Longer term, I want to understand the true distributed execution and contribute to the paper results for INFORMS WDS 2026. I am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1097280"/>
            <a:ext cx="8046720" cy="109728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Understanding BDSVM</a:t>
            </a:r>
            <a:endParaRPr lang="en-US" sz="4400" dirty="0"/>
          </a:p>
        </p:txBody>
      </p:sp>
      <p:sp>
        <p:nvSpPr>
          <p:cNvPr id="3" name="Text 1"/>
          <p:cNvSpPr/>
          <p:nvPr/>
        </p:nvSpPr>
        <p:spPr>
          <a:xfrm>
            <a:off x="548640" y="2286000"/>
            <a:ext cx="8046720" cy="640080"/>
          </a:xfrm>
          <a:prstGeom prst="rect">
            <a:avLst/>
          </a:prstGeom>
          <a:noFill/>
          <a:ln/>
        </p:spPr>
        <p:txBody>
          <a:bodyPr wrap="square" rtlCol="0" anchor="ctr"/>
          <a:lstStyle/>
          <a:p>
            <a:pPr indent="0" marL="0">
              <a:buNone/>
            </a:pPr>
            <a:r>
              <a:rPr lang="en-US" sz="2000" i="1" dirty="0">
                <a:solidFill>
                  <a:srgbClr val="CADCFC"/>
                </a:solidFill>
                <a:latin typeface="Calibri" pitchFamily="34" charset="0"/>
                <a:ea typeface="Calibri" pitchFamily="34" charset="-122"/>
                <a:cs typeface="Calibri" pitchFamily="34" charset="-120"/>
              </a:rPr>
              <a:t>Budget Distributed SVM for Non-IID Federated Learning</a:t>
            </a:r>
            <a:endParaRPr lang="en-US" sz="2000" dirty="0"/>
          </a:p>
        </p:txBody>
      </p:sp>
      <p:sp>
        <p:nvSpPr>
          <p:cNvPr id="4" name="Text 2"/>
          <p:cNvSpPr/>
          <p:nvPr/>
        </p:nvSpPr>
        <p:spPr>
          <a:xfrm>
            <a:off x="548640" y="3017520"/>
            <a:ext cx="8046720" cy="36576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ACM Transactions on Intelligent Systems and Technology, 2022</a:t>
            </a:r>
            <a:endParaRPr lang="en-US" sz="1400" dirty="0"/>
          </a:p>
        </p:txBody>
      </p:sp>
      <p:sp>
        <p:nvSpPr>
          <p:cNvPr id="5" name="Shape 3"/>
          <p:cNvSpPr/>
          <p:nvPr/>
        </p:nvSpPr>
        <p:spPr>
          <a:xfrm>
            <a:off x="548640" y="3657600"/>
            <a:ext cx="8046720" cy="27432"/>
          </a:xfrm>
          <a:prstGeom prst="rect">
            <a:avLst/>
          </a:prstGeom>
          <a:solidFill>
            <a:srgbClr val="CADCFC"/>
          </a:solidFill>
          <a:ln w="12700">
            <a:solidFill>
              <a:srgbClr val="CADCFC"/>
            </a:solidFill>
            <a:prstDash val="solid"/>
          </a:ln>
        </p:spPr>
      </p:sp>
      <p:sp>
        <p:nvSpPr>
          <p:cNvPr id="6" name="Text 4"/>
          <p:cNvSpPr/>
          <p:nvPr/>
        </p:nvSpPr>
        <p:spPr>
          <a:xfrm>
            <a:off x="548640" y="3840480"/>
            <a:ext cx="8046720" cy="36576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Lincoln Zhou (Jiaye Zhou)   ·   Research Group Meeting   ·   May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indent="0" marL="0">
              <a:buNone/>
            </a:pPr>
            <a:r>
              <a:rPr lang="en-US" sz="3600" b="1" dirty="0">
                <a:solidFill>
                  <a:srgbClr val="1E2761"/>
                </a:solidFill>
                <a:latin typeface="Calibri" pitchFamily="34" charset="0"/>
                <a:ea typeface="Calibri" pitchFamily="34" charset="-122"/>
                <a:cs typeface="Calibri" pitchFamily="34" charset="-120"/>
              </a:rPr>
              <a:t>Why BDSVM?</a:t>
            </a:r>
            <a:endParaRPr lang="en-US" sz="3600" dirty="0"/>
          </a:p>
        </p:txBody>
      </p:sp>
      <p:sp>
        <p:nvSpPr>
          <p:cNvPr id="3" name="Shape 1"/>
          <p:cNvSpPr/>
          <p:nvPr/>
        </p:nvSpPr>
        <p:spPr>
          <a:xfrm>
            <a:off x="365760" y="1005840"/>
            <a:ext cx="3931920" cy="3474720"/>
          </a:xfrm>
          <a:prstGeom prst="rect">
            <a:avLst/>
          </a:prstGeom>
          <a:solidFill>
            <a:srgbClr val="FFF1F1"/>
          </a:solidFill>
          <a:ln w="19050">
            <a:solidFill>
              <a:srgbClr val="EF4444"/>
            </a:solidFill>
            <a:prstDash val="solid"/>
          </a:ln>
        </p:spPr>
      </p:sp>
      <p:sp>
        <p:nvSpPr>
          <p:cNvPr id="4" name="Text 2"/>
          <p:cNvSpPr/>
          <p:nvPr/>
        </p:nvSpPr>
        <p:spPr>
          <a:xfrm>
            <a:off x="457200" y="1097280"/>
            <a:ext cx="3749040" cy="365760"/>
          </a:xfrm>
          <a:prstGeom prst="rect">
            <a:avLst/>
          </a:prstGeom>
          <a:noFill/>
          <a:ln/>
        </p:spPr>
        <p:txBody>
          <a:bodyPr wrap="square" rtlCol="0" anchor="ctr"/>
          <a:lstStyle/>
          <a:p>
            <a:pPr indent="0" marL="0">
              <a:buNone/>
            </a:pPr>
            <a:r>
              <a:rPr lang="en-US" sz="1500" b="1" dirty="0">
                <a:solidFill>
                  <a:srgbClr val="EF4444"/>
                </a:solidFill>
                <a:latin typeface="Calibri" pitchFamily="34" charset="0"/>
                <a:ea typeface="Calibri" pitchFamily="34" charset="-122"/>
                <a:cs typeface="Calibri" pitchFamily="34" charset="-120"/>
              </a:rPr>
              <a:t>Traditional Dual SVM Problems</a:t>
            </a:r>
            <a:endParaRPr lang="en-US" sz="1500" dirty="0"/>
          </a:p>
        </p:txBody>
      </p:sp>
      <p:sp>
        <p:nvSpPr>
          <p:cNvPr id="5" name="Text 3"/>
          <p:cNvSpPr/>
          <p:nvPr/>
        </p:nvSpPr>
        <p:spPr>
          <a:xfrm>
            <a:off x="502920" y="1554480"/>
            <a:ext cx="3657600" cy="2651760"/>
          </a:xfrm>
          <a:prstGeom prst="rect">
            <a:avLst/>
          </a:prstGeom>
          <a:noFill/>
          <a:ln/>
        </p:spPr>
        <p:txBody>
          <a:bodyPr wrap="square" rtlCol="0" anchor="ctr"/>
          <a:lstStyle/>
          <a:p>
            <a:pPr marL="342900" indent="-342900">
              <a:spcAft>
                <a:spcPts val="1000"/>
              </a:spcAft>
              <a:buSzPct val="100000"/>
              <a:buChar char="•"/>
            </a:pPr>
            <a:r>
              <a:rPr lang="en-US" sz="1400" dirty="0">
                <a:solidFill>
                  <a:srgbClr val="111827"/>
                </a:solidFill>
                <a:latin typeface="Calibri" pitchFamily="34" charset="0"/>
                <a:ea typeface="Calibri" pitchFamily="34" charset="-122"/>
                <a:cs typeface="Calibri" pitchFamily="34" charset="-120"/>
              </a:rPr>
              <a:t>Support vector count hard to control</a:t>
            </a:r>
            <a:endParaRPr lang="en-US" sz="1400" dirty="0"/>
          </a:p>
          <a:p>
            <a:pPr marL="342900" indent="-342900">
              <a:spcAft>
                <a:spcPts val="1000"/>
              </a:spcAft>
              <a:buSzPct val="100000"/>
              <a:buChar char="•"/>
            </a:pPr>
            <a:r>
              <a:rPr lang="en-US" sz="1400" dirty="0">
                <a:solidFill>
                  <a:srgbClr val="111827"/>
                </a:solidFill>
                <a:latin typeface="Calibri" pitchFamily="34" charset="0"/>
                <a:ea typeface="Calibri" pitchFamily="34" charset="-122"/>
                <a:cs typeface="Calibri" pitchFamily="34" charset="-120"/>
              </a:rPr>
              <a:t>Computationally intensive in distributed settings</a:t>
            </a:r>
            <a:endParaRPr lang="en-US" sz="1400" dirty="0"/>
          </a:p>
          <a:p>
            <a:pPr marL="342900" indent="-342900">
              <a:spcAft>
                <a:spcPts val="1000"/>
              </a:spcAft>
              <a:buSzPct val="100000"/>
              <a:buChar char="•"/>
            </a:pPr>
            <a:r>
              <a:rPr lang="en-US" sz="1400" dirty="0">
                <a:solidFill>
                  <a:srgbClr val="111827"/>
                </a:solidFill>
                <a:latin typeface="Calibri" pitchFamily="34" charset="0"/>
                <a:ea typeface="Calibri" pitchFamily="34" charset="-122"/>
                <a:cs typeface="Calibri" pitchFamily="34" charset="-120"/>
              </a:rPr>
              <a:t>Requires exchanging large amounts of sensitive data</a:t>
            </a:r>
            <a:endParaRPr lang="en-US" sz="1400" dirty="0"/>
          </a:p>
          <a:p>
            <a:pPr marL="342900" indent="-342900">
              <a:spcAft>
                <a:spcPts val="1000"/>
              </a:spcAft>
              <a:buSzPct val="100000"/>
              <a:buChar char="•"/>
            </a:pPr>
            <a:r>
              <a:rPr lang="en-US" sz="1400" dirty="0">
                <a:solidFill>
                  <a:srgbClr val="111827"/>
                </a:solidFill>
                <a:latin typeface="Calibri" pitchFamily="34" charset="0"/>
                <a:ea typeface="Calibri" pitchFamily="34" charset="-122"/>
                <a:cs typeface="Calibri" pitchFamily="34" charset="-120"/>
              </a:rPr>
              <a:t>Poor convergence under Non-IID data</a:t>
            </a:r>
            <a:endParaRPr lang="en-US" sz="1400" dirty="0"/>
          </a:p>
        </p:txBody>
      </p:sp>
      <p:sp>
        <p:nvSpPr>
          <p:cNvPr id="6" name="Shape 4"/>
          <p:cNvSpPr/>
          <p:nvPr/>
        </p:nvSpPr>
        <p:spPr>
          <a:xfrm>
            <a:off x="4754880" y="1005840"/>
            <a:ext cx="3931920" cy="3474720"/>
          </a:xfrm>
          <a:prstGeom prst="rect">
            <a:avLst/>
          </a:prstGeom>
          <a:solidFill>
            <a:srgbClr val="F0FFF4"/>
          </a:solidFill>
          <a:ln w="19050">
            <a:solidFill>
              <a:srgbClr val="10B981"/>
            </a:solidFill>
            <a:prstDash val="solid"/>
          </a:ln>
        </p:spPr>
      </p:sp>
      <p:sp>
        <p:nvSpPr>
          <p:cNvPr id="7" name="Text 5"/>
          <p:cNvSpPr/>
          <p:nvPr/>
        </p:nvSpPr>
        <p:spPr>
          <a:xfrm>
            <a:off x="4846320" y="1097280"/>
            <a:ext cx="3749040" cy="365760"/>
          </a:xfrm>
          <a:prstGeom prst="rect">
            <a:avLst/>
          </a:prstGeom>
          <a:noFill/>
          <a:ln/>
        </p:spPr>
        <p:txBody>
          <a:bodyPr wrap="square" rtlCol="0" anchor="ctr"/>
          <a:lstStyle/>
          <a:p>
            <a:pPr indent="0" marL="0">
              <a:buNone/>
            </a:pPr>
            <a:r>
              <a:rPr lang="en-US" sz="1500" b="1" dirty="0">
                <a:solidFill>
                  <a:srgbClr val="10B981"/>
                </a:solidFill>
                <a:latin typeface="Calibri" pitchFamily="34" charset="0"/>
                <a:ea typeface="Calibri" pitchFamily="34" charset="-122"/>
                <a:cs typeface="Calibri" pitchFamily="34" charset="-120"/>
              </a:rPr>
              <a:t>BDSVM Solution</a:t>
            </a:r>
            <a:endParaRPr lang="en-US" sz="1500" dirty="0"/>
          </a:p>
        </p:txBody>
      </p:sp>
      <p:sp>
        <p:nvSpPr>
          <p:cNvPr id="8" name="Text 6"/>
          <p:cNvSpPr/>
          <p:nvPr/>
        </p:nvSpPr>
        <p:spPr>
          <a:xfrm>
            <a:off x="4892040" y="1554480"/>
            <a:ext cx="3657600" cy="2651760"/>
          </a:xfrm>
          <a:prstGeom prst="rect">
            <a:avLst/>
          </a:prstGeom>
          <a:noFill/>
          <a:ln/>
        </p:spPr>
        <p:txBody>
          <a:bodyPr wrap="square" rtlCol="0" anchor="ctr"/>
          <a:lstStyle/>
          <a:p>
            <a:pPr marL="342900" indent="-342900">
              <a:spcAft>
                <a:spcPts val="1000"/>
              </a:spcAft>
              <a:buSzPct val="100000"/>
              <a:buChar char="•"/>
            </a:pPr>
            <a:r>
              <a:rPr lang="en-US" sz="1400" dirty="0">
                <a:solidFill>
                  <a:srgbClr val="111827"/>
                </a:solidFill>
                <a:latin typeface="Calibri" pitchFamily="34" charset="0"/>
                <a:ea typeface="Calibri" pitchFamily="34" charset="-122"/>
                <a:cs typeface="Calibri" pitchFamily="34" charset="-120"/>
              </a:rPr>
              <a:t>Budget constraint: limit to NC centroids</a:t>
            </a:r>
            <a:endParaRPr lang="en-US" sz="1400" dirty="0"/>
          </a:p>
          <a:p>
            <a:pPr marL="342900" indent="-342900">
              <a:spcAft>
                <a:spcPts val="1000"/>
              </a:spcAft>
              <a:buSzPct val="100000"/>
              <a:buChar char="•"/>
            </a:pPr>
            <a:r>
              <a:rPr lang="en-US" sz="1400" dirty="0">
                <a:solidFill>
                  <a:srgbClr val="111827"/>
                </a:solidFill>
                <a:latin typeface="Calibri" pitchFamily="34" charset="0"/>
                <a:ea typeface="Calibri" pitchFamily="34" charset="-122"/>
                <a:cs typeface="Calibri" pitchFamily="34" charset="-120"/>
              </a:rPr>
              <a:t>Primal IRWLS optimization (efficient)</a:t>
            </a:r>
            <a:endParaRPr lang="en-US" sz="1400" dirty="0"/>
          </a:p>
          <a:p>
            <a:pPr marL="342900" indent="-342900">
              <a:spcAft>
                <a:spcPts val="1000"/>
              </a:spcAft>
              <a:buSzPct val="100000"/>
              <a:buChar char="•"/>
            </a:pPr>
            <a:r>
              <a:rPr lang="en-US" sz="1400" dirty="0">
                <a:solidFill>
                  <a:srgbClr val="111827"/>
                </a:solidFill>
                <a:latin typeface="Calibri" pitchFamily="34" charset="0"/>
                <a:ea typeface="Calibri" pitchFamily="34" charset="-122"/>
                <a:cs typeface="Calibri" pitchFamily="34" charset="-120"/>
              </a:rPr>
              <a:t>Exchange Gram matrices (not raw data)</a:t>
            </a:r>
            <a:endParaRPr lang="en-US" sz="1400" dirty="0"/>
          </a:p>
          <a:p>
            <a:pPr marL="342900" indent="-342900">
              <a:spcAft>
                <a:spcPts val="1000"/>
              </a:spcAft>
              <a:buSzPct val="100000"/>
              <a:buChar char="•"/>
            </a:pPr>
            <a:r>
              <a:rPr lang="en-US" sz="1400" dirty="0">
                <a:solidFill>
                  <a:srgbClr val="111827"/>
                </a:solidFill>
                <a:latin typeface="Calibri" pitchFamily="34" charset="0"/>
                <a:ea typeface="Calibri" pitchFamily="34" charset="-122"/>
                <a:cs typeface="Calibri" pitchFamily="34" charset="-120"/>
              </a:rPr>
              <a:t>Robust to Non-IID data distribution</a:t>
            </a:r>
            <a:endParaRPr lang="en-US" sz="1400" dirty="0"/>
          </a:p>
        </p:txBody>
      </p:sp>
      <p:sp>
        <p:nvSpPr>
          <p:cNvPr id="9" name="Shape 7"/>
          <p:cNvSpPr/>
          <p:nvPr/>
        </p:nvSpPr>
        <p:spPr>
          <a:xfrm>
            <a:off x="4343400" y="2743200"/>
            <a:ext cx="365760" cy="0"/>
          </a:xfrm>
          <a:prstGeom prst="line">
            <a:avLst/>
          </a:prstGeom>
          <a:noFill/>
          <a:ln w="25400">
            <a:solidFill>
              <a:srgbClr val="1E2761"/>
            </a:solidFill>
            <a:prstDash val="solid"/>
          </a:ln>
        </p:spPr>
      </p:sp>
      <p:sp>
        <p:nvSpPr>
          <p:cNvPr id="10" name="Text 8"/>
          <p:cNvSpPr/>
          <p:nvPr/>
        </p:nvSpPr>
        <p:spPr>
          <a:xfrm>
            <a:off x="4315968" y="2514600"/>
            <a:ext cx="457200" cy="365760"/>
          </a:xfrm>
          <a:prstGeom prst="rect">
            <a:avLst/>
          </a:prstGeom>
          <a:noFill/>
          <a:ln/>
        </p:spPr>
        <p:txBody>
          <a:bodyPr wrap="square" rtlCol="0" anchor="ctr"/>
          <a:lstStyle/>
          <a:p>
            <a:pPr algn="ctr" indent="0" marL="0">
              <a:buNone/>
            </a:pPr>
            <a:r>
              <a:rPr lang="en-US" sz="2200" dirty="0">
                <a:solidFill>
                  <a:srgbClr val="1E2761"/>
                </a:solidFill>
              </a:rPr>
              <a:t>→</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indent="0" marL="0">
              <a:buNone/>
            </a:pPr>
            <a:r>
              <a:rPr lang="en-US" sz="3600" b="1" dirty="0">
                <a:solidFill>
                  <a:srgbClr val="1E2761"/>
                </a:solidFill>
                <a:latin typeface="Calibri" pitchFamily="34" charset="0"/>
                <a:ea typeface="Calibri" pitchFamily="34" charset="-122"/>
                <a:cs typeface="Calibri" pitchFamily="34" charset="-120"/>
              </a:rPr>
              <a:t>Is BDSVM Dual or Primal?</a:t>
            </a:r>
            <a:endParaRPr lang="en-US" sz="3600" dirty="0"/>
          </a:p>
        </p:txBody>
      </p:sp>
      <p:sp>
        <p:nvSpPr>
          <p:cNvPr id="3" name="Shape 1"/>
          <p:cNvSpPr/>
          <p:nvPr/>
        </p:nvSpPr>
        <p:spPr>
          <a:xfrm>
            <a:off x="457200" y="960120"/>
            <a:ext cx="8229600" cy="594360"/>
          </a:xfrm>
          <a:prstGeom prst="rect">
            <a:avLst/>
          </a:prstGeom>
          <a:solidFill>
            <a:srgbClr val="1E2761"/>
          </a:solidFill>
          <a:ln w="12700">
            <a:solidFill>
              <a:srgbClr val="1E2761"/>
            </a:solidFill>
            <a:prstDash val="solid"/>
          </a:ln>
        </p:spPr>
      </p:sp>
      <p:sp>
        <p:nvSpPr>
          <p:cNvPr id="4" name="Text 2"/>
          <p:cNvSpPr/>
          <p:nvPr/>
        </p:nvSpPr>
        <p:spPr>
          <a:xfrm>
            <a:off x="457200" y="960120"/>
            <a:ext cx="8229600" cy="5943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 Confirmed: Primal IRWLS  (not Dual, not Primal-Dual)</a:t>
            </a:r>
            <a:endParaRPr lang="en-US" sz="1800" dirty="0"/>
          </a:p>
        </p:txBody>
      </p:sp>
      <p:sp>
        <p:nvSpPr>
          <p:cNvPr id="5" name="Shape 3"/>
          <p:cNvSpPr/>
          <p:nvPr/>
        </p:nvSpPr>
        <p:spPr>
          <a:xfrm>
            <a:off x="365760" y="1783080"/>
            <a:ext cx="2743200" cy="2926080"/>
          </a:xfrm>
          <a:prstGeom prst="rect">
            <a:avLst/>
          </a:prstGeom>
          <a:solidFill>
            <a:srgbClr val="F0F4FF"/>
          </a:solidFill>
          <a:ln w="25400">
            <a:solidFill>
              <a:srgbClr val="EF4444"/>
            </a:solidFill>
            <a:prstDash val="solid"/>
          </a:ln>
        </p:spPr>
      </p:sp>
      <p:sp>
        <p:nvSpPr>
          <p:cNvPr id="6" name="Text 4"/>
          <p:cNvSpPr/>
          <p:nvPr/>
        </p:nvSpPr>
        <p:spPr>
          <a:xfrm>
            <a:off x="457200" y="1874520"/>
            <a:ext cx="2560320" cy="365760"/>
          </a:xfrm>
          <a:prstGeom prst="rect">
            <a:avLst/>
          </a:prstGeom>
          <a:noFill/>
          <a:ln/>
        </p:spPr>
        <p:txBody>
          <a:bodyPr wrap="square" rtlCol="0" anchor="ctr"/>
          <a:lstStyle/>
          <a:p>
            <a:pPr indent="0" marL="0">
              <a:buNone/>
            </a:pPr>
            <a:r>
              <a:rPr lang="en-US" sz="1400" b="1" dirty="0">
                <a:solidFill>
                  <a:srgbClr val="EF4444"/>
                </a:solidFill>
                <a:latin typeface="Calibri" pitchFamily="34" charset="0"/>
                <a:ea typeface="Calibri" pitchFamily="34" charset="-122"/>
                <a:cs typeface="Calibri" pitchFamily="34" charset="-120"/>
              </a:rPr>
              <a:t>Why not Dual?</a:t>
            </a:r>
            <a:endParaRPr lang="en-US" sz="1400" dirty="0"/>
          </a:p>
        </p:txBody>
      </p:sp>
      <p:sp>
        <p:nvSpPr>
          <p:cNvPr id="7" name="Text 5"/>
          <p:cNvSpPr/>
          <p:nvPr/>
        </p:nvSpPr>
        <p:spPr>
          <a:xfrm>
            <a:off x="457200" y="2331720"/>
            <a:ext cx="2560320" cy="2194560"/>
          </a:xfrm>
          <a:prstGeom prst="rect">
            <a:avLst/>
          </a:prstGeom>
          <a:noFill/>
          <a:ln/>
        </p:spPr>
        <p:txBody>
          <a:bodyPr wrap="square" rtlCol="0" anchor="ctr"/>
          <a:lstStyle/>
          <a:p>
            <a:pPr indent="0" marL="0">
              <a:buNone/>
            </a:pPr>
            <a:r>
              <a:rPr lang="en-US" sz="1300" dirty="0">
                <a:solidFill>
                  <a:srgbClr val="111827"/>
                </a:solidFill>
                <a:latin typeface="Calibri" pitchFamily="34" charset="0"/>
                <a:ea typeface="Calibri" pitchFamily="34" charset="-122"/>
                <a:cs typeface="Calibri" pitchFamily="34" charset="-120"/>
              </a:rPr>
              <a:t>Highly complex in high dimensions</a:t>
            </a:r>
            <a:endParaRPr lang="en-US" sz="1300" dirty="0"/>
          </a:p>
          <a:p>
            <a:pPr indent="0" marL="0">
              <a:buNone/>
            </a:pPr>
            <a:r>
              <a:rPr lang="en-US" sz="1300" dirty="0">
                <a:solidFill>
                  <a:srgbClr val="111827"/>
                </a:solidFill>
                <a:latin typeface="Calibri" pitchFamily="34" charset="0"/>
                <a:ea typeface="Calibri" pitchFamily="34" charset="-122"/>
                <a:cs typeface="Calibri" pitchFamily="34" charset="-120"/>
              </a:rPr>
              <a:t>Quadratic programming is expensive</a:t>
            </a:r>
            <a:endParaRPr lang="en-US" sz="1300" dirty="0"/>
          </a:p>
          <a:p>
            <a:pPr indent="0" marL="0">
              <a:buNone/>
            </a:pPr>
            <a:r>
              <a:rPr lang="en-US" sz="1300" dirty="0">
                <a:solidFill>
                  <a:srgbClr val="111827"/>
                </a:solidFill>
                <a:latin typeface="Calibri" pitchFamily="34" charset="0"/>
                <a:ea typeface="Calibri" pitchFamily="34" charset="-122"/>
                <a:cs typeface="Calibri" pitchFamily="34" charset="-120"/>
              </a:rPr>
              <a:t>Hard to control support vector count</a:t>
            </a:r>
            <a:endParaRPr lang="en-US" sz="1300" dirty="0"/>
          </a:p>
          <a:p>
            <a:pPr indent="0" marL="0">
              <a:buNone/>
            </a:pPr>
            <a:r>
              <a:rPr lang="en-US" sz="1300" dirty="0">
                <a:solidFill>
                  <a:srgbClr val="111827"/>
                </a:solidFill>
                <a:latin typeface="Calibri" pitchFamily="34" charset="0"/>
                <a:ea typeface="Calibri" pitchFamily="34" charset="-122"/>
                <a:cs typeface="Calibri" pitchFamily="34" charset="-120"/>
              </a:rPr>
              <a:t>Expensive to communicate α</a:t>
            </a:r>
            <a:endParaRPr lang="en-US" sz="1300" dirty="0"/>
          </a:p>
        </p:txBody>
      </p:sp>
      <p:sp>
        <p:nvSpPr>
          <p:cNvPr id="8" name="Shape 6"/>
          <p:cNvSpPr/>
          <p:nvPr/>
        </p:nvSpPr>
        <p:spPr>
          <a:xfrm>
            <a:off x="3246120" y="1783080"/>
            <a:ext cx="2743200" cy="2926080"/>
          </a:xfrm>
          <a:prstGeom prst="rect">
            <a:avLst/>
          </a:prstGeom>
          <a:solidFill>
            <a:srgbClr val="F0F4FF"/>
          </a:solidFill>
          <a:ln w="25400">
            <a:solidFill>
              <a:srgbClr val="10B981"/>
            </a:solidFill>
            <a:prstDash val="solid"/>
          </a:ln>
        </p:spPr>
      </p:sp>
      <p:sp>
        <p:nvSpPr>
          <p:cNvPr id="9" name="Text 7"/>
          <p:cNvSpPr/>
          <p:nvPr/>
        </p:nvSpPr>
        <p:spPr>
          <a:xfrm>
            <a:off x="3337560" y="1874520"/>
            <a:ext cx="2560320" cy="365760"/>
          </a:xfrm>
          <a:prstGeom prst="rect">
            <a:avLst/>
          </a:prstGeom>
          <a:noFill/>
          <a:ln/>
        </p:spPr>
        <p:txBody>
          <a:bodyPr wrap="square" rtlCol="0" anchor="ctr"/>
          <a:lstStyle/>
          <a:p>
            <a:pPr indent="0" marL="0">
              <a:buNone/>
            </a:pPr>
            <a:r>
              <a:rPr lang="en-US" sz="1400" b="1" dirty="0">
                <a:solidFill>
                  <a:srgbClr val="10B981"/>
                </a:solidFill>
                <a:latin typeface="Calibri" pitchFamily="34" charset="0"/>
                <a:ea typeface="Calibri" pitchFamily="34" charset="-122"/>
                <a:cs typeface="Calibri" pitchFamily="34" charset="-120"/>
              </a:rPr>
              <a:t>Paper solves using...</a:t>
            </a:r>
            <a:endParaRPr lang="en-US" sz="1400" dirty="0"/>
          </a:p>
        </p:txBody>
      </p:sp>
      <p:sp>
        <p:nvSpPr>
          <p:cNvPr id="10" name="Text 8"/>
          <p:cNvSpPr/>
          <p:nvPr/>
        </p:nvSpPr>
        <p:spPr>
          <a:xfrm>
            <a:off x="3337560" y="2331720"/>
            <a:ext cx="2560320" cy="2194560"/>
          </a:xfrm>
          <a:prstGeom prst="rect">
            <a:avLst/>
          </a:prstGeom>
          <a:noFill/>
          <a:ln/>
        </p:spPr>
        <p:txBody>
          <a:bodyPr wrap="square" rtlCol="0" anchor="ctr"/>
          <a:lstStyle/>
          <a:p>
            <a:pPr indent="0" marL="0">
              <a:buNone/>
            </a:pPr>
            <a:r>
              <a:rPr lang="en-US" sz="1300" dirty="0">
                <a:solidFill>
                  <a:srgbClr val="111827"/>
                </a:solidFill>
                <a:latin typeface="Calibri" pitchFamily="34" charset="0"/>
                <a:ea typeface="Calibri" pitchFamily="34" charset="-122"/>
                <a:cs typeface="Calibri" pitchFamily="34" charset="-120"/>
              </a:rPr>
              <a:t>Primal IRWLS (Section 2.1)</a:t>
            </a:r>
            <a:endParaRPr lang="en-US" sz="1300" dirty="0"/>
          </a:p>
          <a:p>
            <a:pPr indent="0" marL="0">
              <a:buNone/>
            </a:pPr>
            <a:r>
              <a:rPr lang="en-US" sz="1300" dirty="0">
                <a:solidFill>
                  <a:srgbClr val="111827"/>
                </a:solidFill>
                <a:latin typeface="Calibri" pitchFamily="34" charset="0"/>
                <a:ea typeface="Calibri" pitchFamily="34" charset="-122"/>
                <a:cs typeface="Calibri" pitchFamily="34" charset="-120"/>
              </a:rPr>
              <a:t>Direct weight optimization w</a:t>
            </a:r>
            <a:endParaRPr lang="en-US" sz="1300" dirty="0"/>
          </a:p>
          <a:p>
            <a:pPr indent="0" marL="0">
              <a:buNone/>
            </a:pPr>
            <a:r>
              <a:rPr lang="en-US" sz="1300" dirty="0">
                <a:solidFill>
                  <a:srgbClr val="111827"/>
                </a:solidFill>
                <a:latin typeface="Calibri" pitchFamily="34" charset="0"/>
                <a:ea typeface="Calibri" pitchFamily="34" charset="-122"/>
                <a:cs typeface="Calibri" pitchFamily="34" charset="-120"/>
              </a:rPr>
              <a:t>Closed-form linear system</a:t>
            </a:r>
            <a:endParaRPr lang="en-US" sz="1300" dirty="0"/>
          </a:p>
          <a:p>
            <a:pPr indent="0" marL="0">
              <a:buNone/>
            </a:pPr>
            <a:r>
              <a:rPr lang="en-US" sz="1300" dirty="0">
                <a:solidFill>
                  <a:srgbClr val="111827"/>
                </a:solidFill>
                <a:latin typeface="Calibri" pitchFamily="34" charset="0"/>
                <a:ea typeface="Calibri" pitchFamily="34" charset="-122"/>
                <a:cs typeface="Calibri" pitchFamily="34" charset="-120"/>
              </a:rPr>
              <a:t>No dual variables ever computed</a:t>
            </a:r>
            <a:endParaRPr lang="en-US" sz="1300" dirty="0"/>
          </a:p>
        </p:txBody>
      </p:sp>
      <p:sp>
        <p:nvSpPr>
          <p:cNvPr id="11" name="Shape 9"/>
          <p:cNvSpPr/>
          <p:nvPr/>
        </p:nvSpPr>
        <p:spPr>
          <a:xfrm>
            <a:off x="6126480" y="1783080"/>
            <a:ext cx="2743200" cy="2926080"/>
          </a:xfrm>
          <a:prstGeom prst="rect">
            <a:avLst/>
          </a:prstGeom>
          <a:solidFill>
            <a:srgbClr val="F0F4FF"/>
          </a:solidFill>
          <a:ln w="25400">
            <a:solidFill>
              <a:srgbClr val="3B82F6"/>
            </a:solidFill>
            <a:prstDash val="solid"/>
          </a:ln>
        </p:spPr>
      </p:sp>
      <p:sp>
        <p:nvSpPr>
          <p:cNvPr id="12" name="Text 10"/>
          <p:cNvSpPr/>
          <p:nvPr/>
        </p:nvSpPr>
        <p:spPr>
          <a:xfrm>
            <a:off x="6217920" y="1874520"/>
            <a:ext cx="2560320" cy="365760"/>
          </a:xfrm>
          <a:prstGeom prst="rect">
            <a:avLst/>
          </a:prstGeom>
          <a:noFill/>
          <a:ln/>
        </p:spPr>
        <p:txBody>
          <a:bodyPr wrap="square" rtlCol="0" anchor="ctr"/>
          <a:lstStyle/>
          <a:p>
            <a:pPr indent="0" marL="0">
              <a:buNone/>
            </a:pPr>
            <a:r>
              <a:rPr lang="en-US" sz="1400" b="1" dirty="0">
                <a:solidFill>
                  <a:srgbClr val="3B82F6"/>
                </a:solidFill>
                <a:latin typeface="Calibri" pitchFamily="34" charset="0"/>
                <a:ea typeface="Calibri" pitchFamily="34" charset="-122"/>
                <a:cs typeface="Calibri" pitchFamily="34" charset="-120"/>
              </a:rPr>
              <a:t>Team confirmed</a:t>
            </a:r>
            <a:endParaRPr lang="en-US" sz="1400" dirty="0"/>
          </a:p>
        </p:txBody>
      </p:sp>
      <p:sp>
        <p:nvSpPr>
          <p:cNvPr id="13" name="Text 11"/>
          <p:cNvSpPr/>
          <p:nvPr/>
        </p:nvSpPr>
        <p:spPr>
          <a:xfrm>
            <a:off x="6217920" y="2331720"/>
            <a:ext cx="2560320" cy="2194560"/>
          </a:xfrm>
          <a:prstGeom prst="rect">
            <a:avLst/>
          </a:prstGeom>
          <a:noFill/>
          <a:ln/>
        </p:spPr>
        <p:txBody>
          <a:bodyPr wrap="square" rtlCol="0" anchor="ctr"/>
          <a:lstStyle/>
          <a:p>
            <a:pPr indent="0" marL="0">
              <a:buNone/>
            </a:pPr>
            <a:r>
              <a:rPr lang="en-US" sz="1300" dirty="0">
                <a:solidFill>
                  <a:srgbClr val="111827"/>
                </a:solidFill>
                <a:latin typeface="Calibri" pitchFamily="34" charset="0"/>
                <a:ea typeface="Calibri" pitchFamily="34" charset="-122"/>
                <a:cs typeface="Calibri" pitchFamily="34" charset="-120"/>
              </a:rPr>
              <a:t>Govind (May 22):</a:t>
            </a:r>
            <a:endParaRPr lang="en-US" sz="1300" dirty="0"/>
          </a:p>
          <a:p>
            <a:pPr indent="0" marL="0">
              <a:buNone/>
            </a:pPr>
            <a:r>
              <a:rPr lang="en-US" sz="1300" dirty="0">
                <a:solidFill>
                  <a:srgbClr val="111827"/>
                </a:solidFill>
                <a:latin typeface="Calibri" pitchFamily="34" charset="0"/>
                <a:ea typeface="Calibri" pitchFamily="34" charset="-122"/>
                <a:cs typeface="Calibri" pitchFamily="34" charset="-120"/>
              </a:rPr>
              <a:t>"They decided to not use anything related to the Dual space and have a better workaround in the Primal space"</a:t>
            </a:r>
            <a:endParaRPr lang="en-US" sz="1300" dirty="0"/>
          </a:p>
        </p:txBody>
      </p:sp>
      <p:sp>
        <p:nvSpPr>
          <p:cNvPr id="14" name="Text 12"/>
          <p:cNvSpPr/>
          <p:nvPr/>
        </p:nvSpPr>
        <p:spPr>
          <a:xfrm>
            <a:off x="457200" y="4754880"/>
            <a:ext cx="8229600" cy="27432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 Confirmed by Govind (May 22): they decided to not use anything related to the Dual space and have a better workaround in the primal space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indent="0" marL="0">
              <a:buNone/>
            </a:pPr>
            <a:r>
              <a:rPr lang="en-US" sz="3600" b="1" dirty="0">
                <a:solidFill>
                  <a:srgbClr val="1E2761"/>
                </a:solidFill>
                <a:latin typeface="Calibri" pitchFamily="34" charset="0"/>
                <a:ea typeface="Calibri" pitchFamily="34" charset="-122"/>
                <a:cs typeface="Calibri" pitchFamily="34" charset="-120"/>
              </a:rPr>
              <a:t>Algorithm 1: BDSVM (Centralized)</a:t>
            </a:r>
            <a:endParaRPr lang="en-US" sz="3600" dirty="0"/>
          </a:p>
        </p:txBody>
      </p:sp>
      <p:sp>
        <p:nvSpPr>
          <p:cNvPr id="3" name="Shape 1"/>
          <p:cNvSpPr/>
          <p:nvPr/>
        </p:nvSpPr>
        <p:spPr>
          <a:xfrm>
            <a:off x="365760" y="1005840"/>
            <a:ext cx="4114800" cy="1143000"/>
          </a:xfrm>
          <a:prstGeom prst="rect">
            <a:avLst/>
          </a:prstGeom>
          <a:solidFill>
            <a:srgbClr val="F0F4FF"/>
          </a:solidFill>
          <a:ln w="12700">
            <a:solidFill>
              <a:srgbClr val="3B82F6"/>
            </a:solidFill>
            <a:prstDash val="solid"/>
          </a:ln>
        </p:spPr>
      </p:sp>
      <p:sp>
        <p:nvSpPr>
          <p:cNvPr id="4" name="Shape 2"/>
          <p:cNvSpPr/>
          <p:nvPr/>
        </p:nvSpPr>
        <p:spPr>
          <a:xfrm>
            <a:off x="457200" y="1234440"/>
            <a:ext cx="411480" cy="411480"/>
          </a:xfrm>
          <a:prstGeom prst="ellipse">
            <a:avLst/>
          </a:prstGeom>
          <a:solidFill>
            <a:srgbClr val="1E2761"/>
          </a:solidFill>
          <a:ln w="12700">
            <a:solidFill>
              <a:srgbClr val="1E2761"/>
            </a:solidFill>
            <a:prstDash val="solid"/>
          </a:ln>
        </p:spPr>
      </p:sp>
      <p:sp>
        <p:nvSpPr>
          <p:cNvPr id="5" name="Text 3"/>
          <p:cNvSpPr/>
          <p:nvPr/>
        </p:nvSpPr>
        <p:spPr>
          <a:xfrm>
            <a:off x="457200" y="1234440"/>
            <a:ext cx="41148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960120" y="1097280"/>
            <a:ext cx="338328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Initialize</a:t>
            </a:r>
            <a:endParaRPr lang="en-US" sz="1400" dirty="0"/>
          </a:p>
        </p:txBody>
      </p:sp>
      <p:sp>
        <p:nvSpPr>
          <p:cNvPr id="7" name="Text 5"/>
          <p:cNvSpPr/>
          <p:nvPr/>
        </p:nvSpPr>
        <p:spPr>
          <a:xfrm>
            <a:off x="960120" y="1444752"/>
            <a:ext cx="3383280" cy="594360"/>
          </a:xfrm>
          <a:prstGeom prst="rect">
            <a:avLst/>
          </a:prstGeom>
          <a:noFill/>
          <a:ln/>
        </p:spPr>
        <p:txBody>
          <a:bodyPr wrap="square" rtlCol="0" anchor="ctr"/>
          <a:lstStyle/>
          <a:p>
            <a:pPr indent="0" marL="0">
              <a:buNone/>
            </a:pPr>
            <a:r>
              <a:rPr lang="en-US" sz="1200" dirty="0">
                <a:solidFill>
                  <a:srgbClr val="111827"/>
                </a:solidFill>
                <a:latin typeface="Calibri" pitchFamily="34" charset="0"/>
                <a:ea typeface="Calibri" pitchFamily="34" charset="-122"/>
                <a:cs typeface="Calibri" pitchFamily="34" charset="-120"/>
              </a:rPr>
              <a:t>Set β⁽⁰⁾ = 0. Randomly generate P pre-image vectors (centroids).</a:t>
            </a:r>
            <a:endParaRPr lang="en-US" sz="1200" dirty="0"/>
          </a:p>
        </p:txBody>
      </p:sp>
      <p:sp>
        <p:nvSpPr>
          <p:cNvPr id="8" name="Shape 6"/>
          <p:cNvSpPr/>
          <p:nvPr/>
        </p:nvSpPr>
        <p:spPr>
          <a:xfrm>
            <a:off x="4663440" y="1005840"/>
            <a:ext cx="4114800" cy="1143000"/>
          </a:xfrm>
          <a:prstGeom prst="rect">
            <a:avLst/>
          </a:prstGeom>
          <a:solidFill>
            <a:srgbClr val="F0F4FF"/>
          </a:solidFill>
          <a:ln w="12700">
            <a:solidFill>
              <a:srgbClr val="3B82F6"/>
            </a:solidFill>
            <a:prstDash val="solid"/>
          </a:ln>
        </p:spPr>
      </p:sp>
      <p:sp>
        <p:nvSpPr>
          <p:cNvPr id="9" name="Shape 7"/>
          <p:cNvSpPr/>
          <p:nvPr/>
        </p:nvSpPr>
        <p:spPr>
          <a:xfrm>
            <a:off x="4754880" y="1234440"/>
            <a:ext cx="411480" cy="411480"/>
          </a:xfrm>
          <a:prstGeom prst="ellipse">
            <a:avLst/>
          </a:prstGeom>
          <a:solidFill>
            <a:srgbClr val="1E2761"/>
          </a:solidFill>
          <a:ln w="12700">
            <a:solidFill>
              <a:srgbClr val="1E2761"/>
            </a:solidFill>
            <a:prstDash val="solid"/>
          </a:ln>
        </p:spPr>
      </p:sp>
      <p:sp>
        <p:nvSpPr>
          <p:cNvPr id="10" name="Text 8"/>
          <p:cNvSpPr/>
          <p:nvPr/>
        </p:nvSpPr>
        <p:spPr>
          <a:xfrm>
            <a:off x="4754880" y="1234440"/>
            <a:ext cx="41148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5257800" y="1097280"/>
            <a:ext cx="338328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Kernel Matrix</a:t>
            </a:r>
            <a:endParaRPr lang="en-US" sz="1400" dirty="0"/>
          </a:p>
        </p:txBody>
      </p:sp>
      <p:sp>
        <p:nvSpPr>
          <p:cNvPr id="12" name="Text 10"/>
          <p:cNvSpPr/>
          <p:nvPr/>
        </p:nvSpPr>
        <p:spPr>
          <a:xfrm>
            <a:off x="5257800" y="1444752"/>
            <a:ext cx="3383280" cy="594360"/>
          </a:xfrm>
          <a:prstGeom prst="rect">
            <a:avLst/>
          </a:prstGeom>
          <a:noFill/>
          <a:ln/>
        </p:spPr>
        <p:txBody>
          <a:bodyPr wrap="square" rtlCol="0" anchor="ctr"/>
          <a:lstStyle/>
          <a:p>
            <a:pPr indent="0" marL="0">
              <a:buNone/>
            </a:pPr>
            <a:r>
              <a:rPr lang="en-US" sz="1200" dirty="0">
                <a:solidFill>
                  <a:srgbClr val="111827"/>
                </a:solidFill>
                <a:latin typeface="Calibri" pitchFamily="34" charset="0"/>
                <a:ea typeface="Calibri" pitchFamily="34" charset="-122"/>
                <a:cs typeface="Calibri" pitchFamily="34" charset="-120"/>
              </a:rPr>
              <a:t>Compute K̃ = [K|1] where K_{i,j} = k(xᵢ, pⱼ).  Stored once, reused each epoch.</a:t>
            </a:r>
            <a:endParaRPr lang="en-US" sz="1200" dirty="0"/>
          </a:p>
        </p:txBody>
      </p:sp>
      <p:sp>
        <p:nvSpPr>
          <p:cNvPr id="13" name="Shape 11"/>
          <p:cNvSpPr/>
          <p:nvPr/>
        </p:nvSpPr>
        <p:spPr>
          <a:xfrm>
            <a:off x="365760" y="2331720"/>
            <a:ext cx="4114800" cy="1143000"/>
          </a:xfrm>
          <a:prstGeom prst="rect">
            <a:avLst/>
          </a:prstGeom>
          <a:solidFill>
            <a:srgbClr val="F0F4FF"/>
          </a:solidFill>
          <a:ln w="12700">
            <a:solidFill>
              <a:srgbClr val="3B82F6"/>
            </a:solidFill>
            <a:prstDash val="solid"/>
          </a:ln>
        </p:spPr>
      </p:sp>
      <p:sp>
        <p:nvSpPr>
          <p:cNvPr id="14" name="Shape 12"/>
          <p:cNvSpPr/>
          <p:nvPr/>
        </p:nvSpPr>
        <p:spPr>
          <a:xfrm>
            <a:off x="457200" y="2560320"/>
            <a:ext cx="411480" cy="411480"/>
          </a:xfrm>
          <a:prstGeom prst="ellipse">
            <a:avLst/>
          </a:prstGeom>
          <a:solidFill>
            <a:srgbClr val="1E2761"/>
          </a:solidFill>
          <a:ln w="12700">
            <a:solidFill>
              <a:srgbClr val="1E2761"/>
            </a:solidFill>
            <a:prstDash val="solid"/>
          </a:ln>
        </p:spPr>
      </p:sp>
      <p:sp>
        <p:nvSpPr>
          <p:cNvPr id="15" name="Text 13"/>
          <p:cNvSpPr/>
          <p:nvPr/>
        </p:nvSpPr>
        <p:spPr>
          <a:xfrm>
            <a:off x="457200" y="2560320"/>
            <a:ext cx="41148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960120" y="2423160"/>
            <a:ext cx="338328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Compute Errors</a:t>
            </a:r>
            <a:endParaRPr lang="en-US" sz="1400" dirty="0"/>
          </a:p>
        </p:txBody>
      </p:sp>
      <p:sp>
        <p:nvSpPr>
          <p:cNvPr id="17" name="Text 15"/>
          <p:cNvSpPr/>
          <p:nvPr/>
        </p:nvSpPr>
        <p:spPr>
          <a:xfrm>
            <a:off x="960120" y="2770632"/>
            <a:ext cx="3383280" cy="594360"/>
          </a:xfrm>
          <a:prstGeom prst="rect">
            <a:avLst/>
          </a:prstGeom>
          <a:noFill/>
          <a:ln/>
        </p:spPr>
        <p:txBody>
          <a:bodyPr wrap="square" rtlCol="0" anchor="ctr"/>
          <a:lstStyle/>
          <a:p>
            <a:pPr indent="0" marL="0">
              <a:buNone/>
            </a:pPr>
            <a:r>
              <a:rPr lang="en-US" sz="1200" dirty="0">
                <a:solidFill>
                  <a:srgbClr val="111827"/>
                </a:solidFill>
                <a:latin typeface="Calibri" pitchFamily="34" charset="0"/>
                <a:ea typeface="Calibri" pitchFamily="34" charset="-122"/>
                <a:cs typeface="Calibri" pitchFamily="34" charset="-120"/>
              </a:rPr>
              <a:t>eᵢ = yᵢ − ⟨K̃, β⁽ⁿ⁾⟩</a:t>
            </a:r>
            <a:endParaRPr lang="en-US" sz="1200" dirty="0"/>
          </a:p>
        </p:txBody>
      </p:sp>
      <p:sp>
        <p:nvSpPr>
          <p:cNvPr id="18" name="Shape 16"/>
          <p:cNvSpPr/>
          <p:nvPr/>
        </p:nvSpPr>
        <p:spPr>
          <a:xfrm>
            <a:off x="4663440" y="2331720"/>
            <a:ext cx="4114800" cy="1143000"/>
          </a:xfrm>
          <a:prstGeom prst="rect">
            <a:avLst/>
          </a:prstGeom>
          <a:solidFill>
            <a:srgbClr val="F0F4FF"/>
          </a:solidFill>
          <a:ln w="12700">
            <a:solidFill>
              <a:srgbClr val="3B82F6"/>
            </a:solidFill>
            <a:prstDash val="solid"/>
          </a:ln>
        </p:spPr>
      </p:sp>
      <p:sp>
        <p:nvSpPr>
          <p:cNvPr id="19" name="Shape 17"/>
          <p:cNvSpPr/>
          <p:nvPr/>
        </p:nvSpPr>
        <p:spPr>
          <a:xfrm>
            <a:off x="4754880" y="2560320"/>
            <a:ext cx="411480" cy="411480"/>
          </a:xfrm>
          <a:prstGeom prst="ellipse">
            <a:avLst/>
          </a:prstGeom>
          <a:solidFill>
            <a:srgbClr val="1E2761"/>
          </a:solidFill>
          <a:ln w="12700">
            <a:solidFill>
              <a:srgbClr val="1E2761"/>
            </a:solidFill>
            <a:prstDash val="solid"/>
          </a:ln>
        </p:spPr>
      </p:sp>
      <p:sp>
        <p:nvSpPr>
          <p:cNvPr id="20" name="Text 18"/>
          <p:cNvSpPr/>
          <p:nvPr/>
        </p:nvSpPr>
        <p:spPr>
          <a:xfrm>
            <a:off x="4754880" y="2560320"/>
            <a:ext cx="41148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5257800" y="2423160"/>
            <a:ext cx="338328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IRWLS Weights</a:t>
            </a:r>
            <a:endParaRPr lang="en-US" sz="1400" dirty="0"/>
          </a:p>
        </p:txBody>
      </p:sp>
      <p:sp>
        <p:nvSpPr>
          <p:cNvPr id="22" name="Text 20"/>
          <p:cNvSpPr/>
          <p:nvPr/>
        </p:nvSpPr>
        <p:spPr>
          <a:xfrm>
            <a:off x="5257800" y="2770632"/>
            <a:ext cx="3383280" cy="594360"/>
          </a:xfrm>
          <a:prstGeom prst="rect">
            <a:avLst/>
          </a:prstGeom>
          <a:noFill/>
          <a:ln/>
        </p:spPr>
        <p:txBody>
          <a:bodyPr wrap="square" rtlCol="0" anchor="ctr"/>
          <a:lstStyle/>
          <a:p>
            <a:pPr indent="0" marL="0">
              <a:buNone/>
            </a:pPr>
            <a:r>
              <a:rPr lang="en-US" sz="1200" dirty="0">
                <a:solidFill>
                  <a:srgbClr val="111827"/>
                </a:solidFill>
                <a:latin typeface="Calibri" pitchFamily="34" charset="0"/>
                <a:ea typeface="Calibri" pitchFamily="34" charset="-122"/>
                <a:cs typeface="Calibri" pitchFamily="34" charset="-120"/>
              </a:rPr>
              <a:t>aᵢ = 0 if eᵢyᵢ &lt; 0 ;   aᵢ = 2C / (eᵢyᵢ)  otherwise</a:t>
            </a:r>
            <a:endParaRPr lang="en-US" sz="1200" dirty="0"/>
          </a:p>
        </p:txBody>
      </p:sp>
      <p:sp>
        <p:nvSpPr>
          <p:cNvPr id="23" name="Shape 21"/>
          <p:cNvSpPr/>
          <p:nvPr/>
        </p:nvSpPr>
        <p:spPr>
          <a:xfrm>
            <a:off x="365760" y="3657600"/>
            <a:ext cx="4114800" cy="1143000"/>
          </a:xfrm>
          <a:prstGeom prst="rect">
            <a:avLst/>
          </a:prstGeom>
          <a:solidFill>
            <a:srgbClr val="F0F4FF"/>
          </a:solidFill>
          <a:ln w="12700">
            <a:solidFill>
              <a:srgbClr val="3B82F6"/>
            </a:solidFill>
            <a:prstDash val="solid"/>
          </a:ln>
        </p:spPr>
      </p:sp>
      <p:sp>
        <p:nvSpPr>
          <p:cNvPr id="24" name="Shape 22"/>
          <p:cNvSpPr/>
          <p:nvPr/>
        </p:nvSpPr>
        <p:spPr>
          <a:xfrm>
            <a:off x="457200" y="3886200"/>
            <a:ext cx="411480" cy="411480"/>
          </a:xfrm>
          <a:prstGeom prst="ellipse">
            <a:avLst/>
          </a:prstGeom>
          <a:solidFill>
            <a:srgbClr val="1E2761"/>
          </a:solidFill>
          <a:ln w="12700">
            <a:solidFill>
              <a:srgbClr val="1E2761"/>
            </a:solidFill>
            <a:prstDash val="solid"/>
          </a:ln>
        </p:spPr>
      </p:sp>
      <p:sp>
        <p:nvSpPr>
          <p:cNvPr id="25" name="Text 23"/>
          <p:cNvSpPr/>
          <p:nvPr/>
        </p:nvSpPr>
        <p:spPr>
          <a:xfrm>
            <a:off x="457200" y="3886200"/>
            <a:ext cx="41148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6" name="Text 24"/>
          <p:cNvSpPr/>
          <p:nvPr/>
        </p:nvSpPr>
        <p:spPr>
          <a:xfrm>
            <a:off x="960120" y="3749040"/>
            <a:ext cx="338328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WLS Solve</a:t>
            </a:r>
            <a:endParaRPr lang="en-US" sz="1400" dirty="0"/>
          </a:p>
        </p:txBody>
      </p:sp>
      <p:sp>
        <p:nvSpPr>
          <p:cNvPr id="27" name="Text 25"/>
          <p:cNvSpPr/>
          <p:nvPr/>
        </p:nvSpPr>
        <p:spPr>
          <a:xfrm>
            <a:off x="960120" y="4096512"/>
            <a:ext cx="3383280" cy="594360"/>
          </a:xfrm>
          <a:prstGeom prst="rect">
            <a:avLst/>
          </a:prstGeom>
          <a:noFill/>
          <a:ln/>
        </p:spPr>
        <p:txBody>
          <a:bodyPr wrap="square" rtlCol="0" anchor="ctr"/>
          <a:lstStyle/>
          <a:p>
            <a:pPr indent="0" marL="0">
              <a:buNone/>
            </a:pPr>
            <a:r>
              <a:rPr lang="en-US" sz="1200" dirty="0">
                <a:solidFill>
                  <a:srgbClr val="111827"/>
                </a:solidFill>
                <a:latin typeface="Calibri" pitchFamily="34" charset="0"/>
                <a:ea typeface="Calibri" pitchFamily="34" charset="-122"/>
                <a:cs typeface="Calibri" pitchFamily="34" charset="-120"/>
              </a:rPr>
              <a:t>β_new = (K̃ᵀ Dₐ K̃ + K̃ₚ)⁻¹ [K̃ᵀ Dₐ y]</a:t>
            </a:r>
            <a:endParaRPr lang="en-US" sz="1200" dirty="0"/>
          </a:p>
        </p:txBody>
      </p:sp>
      <p:sp>
        <p:nvSpPr>
          <p:cNvPr id="28" name="Shape 26"/>
          <p:cNvSpPr/>
          <p:nvPr/>
        </p:nvSpPr>
        <p:spPr>
          <a:xfrm>
            <a:off x="4663440" y="3657600"/>
            <a:ext cx="4114800" cy="1143000"/>
          </a:xfrm>
          <a:prstGeom prst="rect">
            <a:avLst/>
          </a:prstGeom>
          <a:solidFill>
            <a:srgbClr val="F0F4FF"/>
          </a:solidFill>
          <a:ln w="12700">
            <a:solidFill>
              <a:srgbClr val="3B82F6"/>
            </a:solidFill>
            <a:prstDash val="solid"/>
          </a:ln>
        </p:spPr>
      </p:sp>
      <p:sp>
        <p:nvSpPr>
          <p:cNvPr id="29" name="Shape 27"/>
          <p:cNvSpPr/>
          <p:nvPr/>
        </p:nvSpPr>
        <p:spPr>
          <a:xfrm>
            <a:off x="4754880" y="3886200"/>
            <a:ext cx="411480" cy="411480"/>
          </a:xfrm>
          <a:prstGeom prst="ellipse">
            <a:avLst/>
          </a:prstGeom>
          <a:solidFill>
            <a:srgbClr val="1E2761"/>
          </a:solidFill>
          <a:ln w="12700">
            <a:solidFill>
              <a:srgbClr val="1E2761"/>
            </a:solidFill>
            <a:prstDash val="solid"/>
          </a:ln>
        </p:spPr>
      </p:sp>
      <p:sp>
        <p:nvSpPr>
          <p:cNvPr id="30" name="Text 28"/>
          <p:cNvSpPr/>
          <p:nvPr/>
        </p:nvSpPr>
        <p:spPr>
          <a:xfrm>
            <a:off x="4754880" y="3886200"/>
            <a:ext cx="41148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1" name="Text 29"/>
          <p:cNvSpPr/>
          <p:nvPr/>
        </p:nvSpPr>
        <p:spPr>
          <a:xfrm>
            <a:off x="5257800" y="3749040"/>
            <a:ext cx="338328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Update + Repeat</a:t>
            </a:r>
            <a:endParaRPr lang="en-US" sz="1400" dirty="0"/>
          </a:p>
        </p:txBody>
      </p:sp>
      <p:sp>
        <p:nvSpPr>
          <p:cNvPr id="32" name="Text 30"/>
          <p:cNvSpPr/>
          <p:nvPr/>
        </p:nvSpPr>
        <p:spPr>
          <a:xfrm>
            <a:off x="5257800" y="4096512"/>
            <a:ext cx="3383280" cy="594360"/>
          </a:xfrm>
          <a:prstGeom prst="rect">
            <a:avLst/>
          </a:prstGeom>
          <a:noFill/>
          <a:ln/>
        </p:spPr>
        <p:txBody>
          <a:bodyPr wrap="square" rtlCol="0" anchor="ctr"/>
          <a:lstStyle/>
          <a:p>
            <a:pPr indent="0" marL="0">
              <a:buNone/>
            </a:pPr>
            <a:r>
              <a:rPr lang="en-US" sz="1200" dirty="0">
                <a:solidFill>
                  <a:srgbClr val="111827"/>
                </a:solidFill>
                <a:latin typeface="Calibri" pitchFamily="34" charset="0"/>
                <a:ea typeface="Calibri" pitchFamily="34" charset="-122"/>
                <a:cs typeface="Calibri" pitchFamily="34" charset="-120"/>
              </a:rPr>
              <a:t>β⁽ⁿ⁺¹⁾ = λ β⁽ⁿ⁾ + (1−λ) β_new  until convergence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indent="0" marL="0">
              <a:buNone/>
            </a:pPr>
            <a:r>
              <a:rPr lang="en-US" sz="3600" b="1" dirty="0">
                <a:solidFill>
                  <a:srgbClr val="1E2761"/>
                </a:solidFill>
                <a:latin typeface="Calibri" pitchFamily="34" charset="0"/>
                <a:ea typeface="Calibri" pitchFamily="34" charset="-122"/>
                <a:cs typeface="Calibri" pitchFamily="34" charset="-120"/>
              </a:rPr>
              <a:t>Distributed BDSVM: Master &amp; Worker</a:t>
            </a:r>
            <a:endParaRPr lang="en-US" sz="3600" dirty="0"/>
          </a:p>
        </p:txBody>
      </p:sp>
      <p:sp>
        <p:nvSpPr>
          <p:cNvPr id="3" name="Shape 1"/>
          <p:cNvSpPr/>
          <p:nvPr/>
        </p:nvSpPr>
        <p:spPr>
          <a:xfrm>
            <a:off x="365760" y="960120"/>
            <a:ext cx="3931920" cy="411480"/>
          </a:xfrm>
          <a:prstGeom prst="rect">
            <a:avLst/>
          </a:prstGeom>
          <a:solidFill>
            <a:srgbClr val="1E2761"/>
          </a:solidFill>
          <a:ln w="12700">
            <a:solidFill>
              <a:srgbClr val="1E2761"/>
            </a:solidFill>
            <a:prstDash val="solid"/>
          </a:ln>
        </p:spPr>
      </p:sp>
      <p:sp>
        <p:nvSpPr>
          <p:cNvPr id="4" name="Text 2"/>
          <p:cNvSpPr/>
          <p:nvPr/>
        </p:nvSpPr>
        <p:spPr>
          <a:xfrm>
            <a:off x="365760" y="960120"/>
            <a:ext cx="393192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Algorithm 2: Aggregator (Master)</a:t>
            </a:r>
            <a:endParaRPr lang="en-US" sz="1400" dirty="0"/>
          </a:p>
        </p:txBody>
      </p:sp>
      <p:sp>
        <p:nvSpPr>
          <p:cNvPr id="5" name="Shape 3"/>
          <p:cNvSpPr/>
          <p:nvPr/>
        </p:nvSpPr>
        <p:spPr>
          <a:xfrm>
            <a:off x="365760" y="1417320"/>
            <a:ext cx="3931920" cy="502920"/>
          </a:xfrm>
          <a:prstGeom prst="rect">
            <a:avLst/>
          </a:prstGeom>
          <a:solidFill>
            <a:srgbClr val="F0F4FF"/>
          </a:solidFill>
          <a:ln w="6350">
            <a:solidFill>
              <a:srgbClr val="D1D5DB"/>
            </a:solidFill>
            <a:prstDash val="solid"/>
          </a:ln>
        </p:spPr>
      </p:sp>
      <p:sp>
        <p:nvSpPr>
          <p:cNvPr id="6" name="Text 4"/>
          <p:cNvSpPr/>
          <p:nvPr/>
        </p:nvSpPr>
        <p:spPr>
          <a:xfrm>
            <a:off x="457200" y="1444752"/>
            <a:ext cx="3749040" cy="457200"/>
          </a:xfrm>
          <a:prstGeom prst="rect">
            <a:avLst/>
          </a:prstGeom>
          <a:noFill/>
          <a:ln/>
        </p:spPr>
        <p:txBody>
          <a:bodyPr wrap="square" rtlCol="0" anchor="ctr"/>
          <a:lstStyle/>
          <a:p>
            <a:pPr indent="0" marL="0">
              <a:buNone/>
            </a:pPr>
            <a:r>
              <a:rPr lang="en-US" sz="1200" dirty="0">
                <a:solidFill>
                  <a:srgbClr val="111827"/>
                </a:solidFill>
                <a:latin typeface="Calibri" pitchFamily="34" charset="0"/>
                <a:ea typeface="Calibri" pitchFamily="34" charset="-122"/>
                <a:cs typeface="Calibri" pitchFamily="34" charset="-120"/>
              </a:rPr>
              <a:t>1. Initialize β⁽⁰⁾ = 0, generate seed S, compute K̃ₚ</a:t>
            </a:r>
            <a:endParaRPr lang="en-US" sz="1200" dirty="0"/>
          </a:p>
        </p:txBody>
      </p:sp>
      <p:sp>
        <p:nvSpPr>
          <p:cNvPr id="7" name="Shape 5"/>
          <p:cNvSpPr/>
          <p:nvPr/>
        </p:nvSpPr>
        <p:spPr>
          <a:xfrm>
            <a:off x="365760" y="1993392"/>
            <a:ext cx="3931920" cy="502920"/>
          </a:xfrm>
          <a:prstGeom prst="rect">
            <a:avLst/>
          </a:prstGeom>
          <a:solidFill>
            <a:srgbClr val="FFFFFF"/>
          </a:solidFill>
          <a:ln w="6350">
            <a:solidFill>
              <a:srgbClr val="D1D5DB"/>
            </a:solidFill>
            <a:prstDash val="solid"/>
          </a:ln>
        </p:spPr>
      </p:sp>
      <p:sp>
        <p:nvSpPr>
          <p:cNvPr id="8" name="Text 6"/>
          <p:cNvSpPr/>
          <p:nvPr/>
        </p:nvSpPr>
        <p:spPr>
          <a:xfrm>
            <a:off x="457200" y="2020824"/>
            <a:ext cx="3749040" cy="457200"/>
          </a:xfrm>
          <a:prstGeom prst="rect">
            <a:avLst/>
          </a:prstGeom>
          <a:noFill/>
          <a:ln/>
        </p:spPr>
        <p:txBody>
          <a:bodyPr wrap="square" rtlCol="0" anchor="ctr"/>
          <a:lstStyle/>
          <a:p>
            <a:pPr indent="0" marL="0">
              <a:buNone/>
            </a:pPr>
            <a:r>
              <a:rPr lang="en-US" sz="1200" dirty="0">
                <a:solidFill>
                  <a:srgbClr val="111827"/>
                </a:solidFill>
                <a:latin typeface="Calibri" pitchFamily="34" charset="0"/>
                <a:ea typeface="Calibri" pitchFamily="34" charset="-122"/>
                <a:cs typeface="Calibri" pitchFamily="34" charset="-120"/>
              </a:rPr>
              <a:t>2. Broadcast current weights β⁽ⁿ⁾ to all workers</a:t>
            </a:r>
            <a:endParaRPr lang="en-US" sz="1200" dirty="0"/>
          </a:p>
        </p:txBody>
      </p:sp>
      <p:sp>
        <p:nvSpPr>
          <p:cNvPr id="9" name="Shape 7"/>
          <p:cNvSpPr/>
          <p:nvPr/>
        </p:nvSpPr>
        <p:spPr>
          <a:xfrm>
            <a:off x="365760" y="2569464"/>
            <a:ext cx="3931920" cy="502920"/>
          </a:xfrm>
          <a:prstGeom prst="rect">
            <a:avLst/>
          </a:prstGeom>
          <a:solidFill>
            <a:srgbClr val="F0F4FF"/>
          </a:solidFill>
          <a:ln w="6350">
            <a:solidFill>
              <a:srgbClr val="D1D5DB"/>
            </a:solidFill>
            <a:prstDash val="solid"/>
          </a:ln>
        </p:spPr>
      </p:sp>
      <p:sp>
        <p:nvSpPr>
          <p:cNvPr id="10" name="Text 8"/>
          <p:cNvSpPr/>
          <p:nvPr/>
        </p:nvSpPr>
        <p:spPr>
          <a:xfrm>
            <a:off x="457200" y="2596896"/>
            <a:ext cx="3749040" cy="457200"/>
          </a:xfrm>
          <a:prstGeom prst="rect">
            <a:avLst/>
          </a:prstGeom>
          <a:noFill/>
          <a:ln/>
        </p:spPr>
        <p:txBody>
          <a:bodyPr wrap="square" rtlCol="0" anchor="ctr"/>
          <a:lstStyle/>
          <a:p>
            <a:pPr indent="0" marL="0">
              <a:buNone/>
            </a:pPr>
            <a:r>
              <a:rPr lang="en-US" sz="1200" dirty="0">
                <a:solidFill>
                  <a:srgbClr val="111827"/>
                </a:solidFill>
                <a:latin typeface="Calibri" pitchFamily="34" charset="0"/>
                <a:ea typeface="Calibri" pitchFamily="34" charset="-122"/>
                <a:cs typeface="Calibri" pitchFamily="34" charset="-120"/>
              </a:rPr>
              <a:t>3. Wait T_timeout, receive (Cₘ, dₘ) from each worker m</a:t>
            </a:r>
            <a:endParaRPr lang="en-US" sz="1200" dirty="0"/>
          </a:p>
        </p:txBody>
      </p:sp>
      <p:sp>
        <p:nvSpPr>
          <p:cNvPr id="11" name="Shape 9"/>
          <p:cNvSpPr/>
          <p:nvPr/>
        </p:nvSpPr>
        <p:spPr>
          <a:xfrm>
            <a:off x="365760" y="3145536"/>
            <a:ext cx="3931920" cy="502920"/>
          </a:xfrm>
          <a:prstGeom prst="rect">
            <a:avLst/>
          </a:prstGeom>
          <a:solidFill>
            <a:srgbClr val="FFFFFF"/>
          </a:solidFill>
          <a:ln w="6350">
            <a:solidFill>
              <a:srgbClr val="D1D5DB"/>
            </a:solidFill>
            <a:prstDash val="solid"/>
          </a:ln>
        </p:spPr>
      </p:sp>
      <p:sp>
        <p:nvSpPr>
          <p:cNvPr id="12" name="Text 10"/>
          <p:cNvSpPr/>
          <p:nvPr/>
        </p:nvSpPr>
        <p:spPr>
          <a:xfrm>
            <a:off x="457200" y="3172968"/>
            <a:ext cx="3749040" cy="457200"/>
          </a:xfrm>
          <a:prstGeom prst="rect">
            <a:avLst/>
          </a:prstGeom>
          <a:noFill/>
          <a:ln/>
        </p:spPr>
        <p:txBody>
          <a:bodyPr wrap="square" rtlCol="0" anchor="ctr"/>
          <a:lstStyle/>
          <a:p>
            <a:pPr indent="0" marL="0">
              <a:buNone/>
            </a:pPr>
            <a:r>
              <a:rPr lang="en-US" sz="1200" dirty="0">
                <a:solidFill>
                  <a:srgbClr val="111827"/>
                </a:solidFill>
                <a:latin typeface="Calibri" pitchFamily="34" charset="0"/>
                <a:ea typeface="Calibri" pitchFamily="34" charset="-122"/>
                <a:cs typeface="Calibri" pitchFamily="34" charset="-120"/>
              </a:rPr>
              <a:t>4. Aggregate: β_new = (Σ Cₘ + K̃ₚ)⁻¹ Σ dₘ</a:t>
            </a:r>
            <a:endParaRPr lang="en-US" sz="1200" dirty="0"/>
          </a:p>
        </p:txBody>
      </p:sp>
      <p:sp>
        <p:nvSpPr>
          <p:cNvPr id="13" name="Shape 11"/>
          <p:cNvSpPr/>
          <p:nvPr/>
        </p:nvSpPr>
        <p:spPr>
          <a:xfrm>
            <a:off x="365760" y="3721608"/>
            <a:ext cx="3931920" cy="502920"/>
          </a:xfrm>
          <a:prstGeom prst="rect">
            <a:avLst/>
          </a:prstGeom>
          <a:solidFill>
            <a:srgbClr val="F0F4FF"/>
          </a:solidFill>
          <a:ln w="6350">
            <a:solidFill>
              <a:srgbClr val="D1D5DB"/>
            </a:solidFill>
            <a:prstDash val="solid"/>
          </a:ln>
        </p:spPr>
      </p:sp>
      <p:sp>
        <p:nvSpPr>
          <p:cNvPr id="14" name="Text 12"/>
          <p:cNvSpPr/>
          <p:nvPr/>
        </p:nvSpPr>
        <p:spPr>
          <a:xfrm>
            <a:off x="457200" y="3749040"/>
            <a:ext cx="3749040" cy="457200"/>
          </a:xfrm>
          <a:prstGeom prst="rect">
            <a:avLst/>
          </a:prstGeom>
          <a:noFill/>
          <a:ln/>
        </p:spPr>
        <p:txBody>
          <a:bodyPr wrap="square" rtlCol="0" anchor="ctr"/>
          <a:lstStyle/>
          <a:p>
            <a:pPr indent="0" marL="0">
              <a:buNone/>
            </a:pPr>
            <a:r>
              <a:rPr lang="en-US" sz="1200" dirty="0">
                <a:solidFill>
                  <a:srgbClr val="111827"/>
                </a:solidFill>
                <a:latin typeface="Calibri" pitchFamily="34" charset="0"/>
                <a:ea typeface="Calibri" pitchFamily="34" charset="-122"/>
                <a:cs typeface="Calibri" pitchFamily="34" charset="-120"/>
              </a:rPr>
              <a:t>5. Update: β⁽ⁿ⁺¹⁾ = λβ⁽ⁿ⁾ + (1−λ)β_new</a:t>
            </a:r>
            <a:endParaRPr lang="en-US" sz="1200" dirty="0"/>
          </a:p>
        </p:txBody>
      </p:sp>
      <p:sp>
        <p:nvSpPr>
          <p:cNvPr id="15" name="Shape 13"/>
          <p:cNvSpPr/>
          <p:nvPr/>
        </p:nvSpPr>
        <p:spPr>
          <a:xfrm>
            <a:off x="365760" y="4297680"/>
            <a:ext cx="3931920" cy="502920"/>
          </a:xfrm>
          <a:prstGeom prst="rect">
            <a:avLst/>
          </a:prstGeom>
          <a:solidFill>
            <a:srgbClr val="FFFFFF"/>
          </a:solidFill>
          <a:ln w="6350">
            <a:solidFill>
              <a:srgbClr val="D1D5DB"/>
            </a:solidFill>
            <a:prstDash val="solid"/>
          </a:ln>
        </p:spPr>
      </p:sp>
      <p:sp>
        <p:nvSpPr>
          <p:cNvPr id="16" name="Text 14"/>
          <p:cNvSpPr/>
          <p:nvPr/>
        </p:nvSpPr>
        <p:spPr>
          <a:xfrm>
            <a:off x="457200" y="4325112"/>
            <a:ext cx="3749040" cy="457200"/>
          </a:xfrm>
          <a:prstGeom prst="rect">
            <a:avLst/>
          </a:prstGeom>
          <a:noFill/>
          <a:ln/>
        </p:spPr>
        <p:txBody>
          <a:bodyPr wrap="square" rtlCol="0" anchor="ctr"/>
          <a:lstStyle/>
          <a:p>
            <a:pPr indent="0" marL="0">
              <a:buNone/>
            </a:pPr>
            <a:r>
              <a:rPr lang="en-US" sz="1200" dirty="0">
                <a:solidFill>
                  <a:srgbClr val="111827"/>
                </a:solidFill>
                <a:latin typeface="Calibri" pitchFamily="34" charset="0"/>
                <a:ea typeface="Calibri" pitchFamily="34" charset="-122"/>
                <a:cs typeface="Calibri" pitchFamily="34" charset="-120"/>
              </a:rPr>
              <a:t>6. Check convergence criterion</a:t>
            </a:r>
            <a:endParaRPr lang="en-US" sz="1200" dirty="0"/>
          </a:p>
        </p:txBody>
      </p:sp>
      <p:sp>
        <p:nvSpPr>
          <p:cNvPr id="17" name="Shape 15"/>
          <p:cNvSpPr/>
          <p:nvPr/>
        </p:nvSpPr>
        <p:spPr>
          <a:xfrm>
            <a:off x="4754880" y="960120"/>
            <a:ext cx="3931920" cy="411480"/>
          </a:xfrm>
          <a:prstGeom prst="rect">
            <a:avLst/>
          </a:prstGeom>
          <a:solidFill>
            <a:srgbClr val="3B82F6"/>
          </a:solidFill>
          <a:ln w="12700">
            <a:solidFill>
              <a:srgbClr val="3B82F6"/>
            </a:solidFill>
            <a:prstDash val="solid"/>
          </a:ln>
        </p:spPr>
      </p:sp>
      <p:sp>
        <p:nvSpPr>
          <p:cNvPr id="18" name="Text 16"/>
          <p:cNvSpPr/>
          <p:nvPr/>
        </p:nvSpPr>
        <p:spPr>
          <a:xfrm>
            <a:off x="4754880" y="960120"/>
            <a:ext cx="393192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Algorithm 3: Worker m</a:t>
            </a:r>
            <a:endParaRPr lang="en-US" sz="1400" dirty="0"/>
          </a:p>
        </p:txBody>
      </p:sp>
      <p:sp>
        <p:nvSpPr>
          <p:cNvPr id="19" name="Shape 17"/>
          <p:cNvSpPr/>
          <p:nvPr/>
        </p:nvSpPr>
        <p:spPr>
          <a:xfrm>
            <a:off x="4754880" y="1417320"/>
            <a:ext cx="3931920" cy="502920"/>
          </a:xfrm>
          <a:prstGeom prst="rect">
            <a:avLst/>
          </a:prstGeom>
          <a:solidFill>
            <a:srgbClr val="F0F4FF"/>
          </a:solidFill>
          <a:ln w="6350">
            <a:solidFill>
              <a:srgbClr val="D1D5DB"/>
            </a:solidFill>
            <a:prstDash val="solid"/>
          </a:ln>
        </p:spPr>
      </p:sp>
      <p:sp>
        <p:nvSpPr>
          <p:cNvPr id="20" name="Text 18"/>
          <p:cNvSpPr/>
          <p:nvPr/>
        </p:nvSpPr>
        <p:spPr>
          <a:xfrm>
            <a:off x="4846320" y="1444752"/>
            <a:ext cx="3749040" cy="457200"/>
          </a:xfrm>
          <a:prstGeom prst="rect">
            <a:avLst/>
          </a:prstGeom>
          <a:noFill/>
          <a:ln/>
        </p:spPr>
        <p:txBody>
          <a:bodyPr wrap="square" rtlCol="0" anchor="ctr"/>
          <a:lstStyle/>
          <a:p>
            <a:pPr indent="0" marL="0">
              <a:buNone/>
            </a:pPr>
            <a:r>
              <a:rPr lang="en-US" sz="1200" dirty="0">
                <a:solidFill>
                  <a:srgbClr val="111827"/>
                </a:solidFill>
                <a:latin typeface="Calibri" pitchFamily="34" charset="0"/>
                <a:ea typeface="Calibri" pitchFamily="34" charset="-122"/>
                <a:cs typeface="Calibri" pitchFamily="34" charset="-120"/>
              </a:rPr>
              <a:t>1. Receive seed S, compute kernel matrix K̃ₘ</a:t>
            </a:r>
            <a:endParaRPr lang="en-US" sz="1200" dirty="0"/>
          </a:p>
        </p:txBody>
      </p:sp>
      <p:sp>
        <p:nvSpPr>
          <p:cNvPr id="21" name="Shape 19"/>
          <p:cNvSpPr/>
          <p:nvPr/>
        </p:nvSpPr>
        <p:spPr>
          <a:xfrm>
            <a:off x="4754880" y="1993392"/>
            <a:ext cx="3931920" cy="502920"/>
          </a:xfrm>
          <a:prstGeom prst="rect">
            <a:avLst/>
          </a:prstGeom>
          <a:solidFill>
            <a:srgbClr val="FFFFFF"/>
          </a:solidFill>
          <a:ln w="6350">
            <a:solidFill>
              <a:srgbClr val="D1D5DB"/>
            </a:solidFill>
            <a:prstDash val="solid"/>
          </a:ln>
        </p:spPr>
      </p:sp>
      <p:sp>
        <p:nvSpPr>
          <p:cNvPr id="22" name="Text 20"/>
          <p:cNvSpPr/>
          <p:nvPr/>
        </p:nvSpPr>
        <p:spPr>
          <a:xfrm>
            <a:off x="4846320" y="2020824"/>
            <a:ext cx="3749040" cy="457200"/>
          </a:xfrm>
          <a:prstGeom prst="rect">
            <a:avLst/>
          </a:prstGeom>
          <a:noFill/>
          <a:ln/>
        </p:spPr>
        <p:txBody>
          <a:bodyPr wrap="square" rtlCol="0" anchor="ctr"/>
          <a:lstStyle/>
          <a:p>
            <a:pPr indent="0" marL="0">
              <a:buNone/>
            </a:pPr>
            <a:r>
              <a:rPr lang="en-US" sz="1200" dirty="0">
                <a:solidFill>
                  <a:srgbClr val="111827"/>
                </a:solidFill>
                <a:latin typeface="Calibri" pitchFamily="34" charset="0"/>
                <a:ea typeface="Calibri" pitchFamily="34" charset="-122"/>
                <a:cs typeface="Calibri" pitchFamily="34" charset="-120"/>
              </a:rPr>
              <a:t>2. Receive β⁽ⁿ⁾, compute errors eₘ = yₘ − ⟨K̃ₘ, β⁽ⁿ⁾⟩</a:t>
            </a:r>
            <a:endParaRPr lang="en-US" sz="1200" dirty="0"/>
          </a:p>
        </p:txBody>
      </p:sp>
      <p:sp>
        <p:nvSpPr>
          <p:cNvPr id="23" name="Shape 21"/>
          <p:cNvSpPr/>
          <p:nvPr/>
        </p:nvSpPr>
        <p:spPr>
          <a:xfrm>
            <a:off x="4754880" y="2569464"/>
            <a:ext cx="3931920" cy="502920"/>
          </a:xfrm>
          <a:prstGeom prst="rect">
            <a:avLst/>
          </a:prstGeom>
          <a:solidFill>
            <a:srgbClr val="F0F4FF"/>
          </a:solidFill>
          <a:ln w="6350">
            <a:solidFill>
              <a:srgbClr val="D1D5DB"/>
            </a:solidFill>
            <a:prstDash val="solid"/>
          </a:ln>
        </p:spPr>
      </p:sp>
      <p:sp>
        <p:nvSpPr>
          <p:cNvPr id="24" name="Text 22"/>
          <p:cNvSpPr/>
          <p:nvPr/>
        </p:nvSpPr>
        <p:spPr>
          <a:xfrm>
            <a:off x="4846320" y="2596896"/>
            <a:ext cx="3749040" cy="457200"/>
          </a:xfrm>
          <a:prstGeom prst="rect">
            <a:avLst/>
          </a:prstGeom>
          <a:noFill/>
          <a:ln/>
        </p:spPr>
        <p:txBody>
          <a:bodyPr wrap="square" rtlCol="0" anchor="ctr"/>
          <a:lstStyle/>
          <a:p>
            <a:pPr indent="0" marL="0">
              <a:buNone/>
            </a:pPr>
            <a:r>
              <a:rPr lang="en-US" sz="1200" dirty="0">
                <a:solidFill>
                  <a:srgbClr val="111827"/>
                </a:solidFill>
                <a:latin typeface="Calibri" pitchFamily="34" charset="0"/>
                <a:ea typeface="Calibri" pitchFamily="34" charset="-122"/>
                <a:cs typeface="Calibri" pitchFamily="34" charset="-120"/>
              </a:rPr>
              <a:t>3. Compute IRWLS weights aᵢ</a:t>
            </a:r>
            <a:endParaRPr lang="en-US" sz="1200" dirty="0"/>
          </a:p>
        </p:txBody>
      </p:sp>
      <p:sp>
        <p:nvSpPr>
          <p:cNvPr id="25" name="Shape 23"/>
          <p:cNvSpPr/>
          <p:nvPr/>
        </p:nvSpPr>
        <p:spPr>
          <a:xfrm>
            <a:off x="4754880" y="3145536"/>
            <a:ext cx="3931920" cy="502920"/>
          </a:xfrm>
          <a:prstGeom prst="rect">
            <a:avLst/>
          </a:prstGeom>
          <a:solidFill>
            <a:srgbClr val="FFFFFF"/>
          </a:solidFill>
          <a:ln w="6350">
            <a:solidFill>
              <a:srgbClr val="D1D5DB"/>
            </a:solidFill>
            <a:prstDash val="solid"/>
          </a:ln>
        </p:spPr>
      </p:sp>
      <p:sp>
        <p:nvSpPr>
          <p:cNvPr id="26" name="Text 24"/>
          <p:cNvSpPr/>
          <p:nvPr/>
        </p:nvSpPr>
        <p:spPr>
          <a:xfrm>
            <a:off x="4846320" y="3172968"/>
            <a:ext cx="3749040" cy="457200"/>
          </a:xfrm>
          <a:prstGeom prst="rect">
            <a:avLst/>
          </a:prstGeom>
          <a:noFill/>
          <a:ln/>
        </p:spPr>
        <p:txBody>
          <a:bodyPr wrap="square" rtlCol="0" anchor="ctr"/>
          <a:lstStyle/>
          <a:p>
            <a:pPr indent="0" marL="0">
              <a:buNone/>
            </a:pPr>
            <a:r>
              <a:rPr lang="en-US" sz="1200" dirty="0">
                <a:solidFill>
                  <a:srgbClr val="111827"/>
                </a:solidFill>
                <a:latin typeface="Calibri" pitchFamily="34" charset="0"/>
                <a:ea typeface="Calibri" pitchFamily="34" charset="-122"/>
                <a:cs typeface="Calibri" pitchFamily="34" charset="-120"/>
              </a:rPr>
              <a:t>4. Compute: Cₘ = K̃ₘᵀ Dₐ K̃ₘ   dₘ = K̃ₘᵀ Dₐ yₘ</a:t>
            </a:r>
            <a:endParaRPr lang="en-US" sz="1200" dirty="0"/>
          </a:p>
        </p:txBody>
      </p:sp>
      <p:sp>
        <p:nvSpPr>
          <p:cNvPr id="27" name="Shape 25"/>
          <p:cNvSpPr/>
          <p:nvPr/>
        </p:nvSpPr>
        <p:spPr>
          <a:xfrm>
            <a:off x="4754880" y="3721608"/>
            <a:ext cx="3931920" cy="502920"/>
          </a:xfrm>
          <a:prstGeom prst="rect">
            <a:avLst/>
          </a:prstGeom>
          <a:solidFill>
            <a:srgbClr val="F0F4FF"/>
          </a:solidFill>
          <a:ln w="6350">
            <a:solidFill>
              <a:srgbClr val="D1D5DB"/>
            </a:solidFill>
            <a:prstDash val="solid"/>
          </a:ln>
        </p:spPr>
      </p:sp>
      <p:sp>
        <p:nvSpPr>
          <p:cNvPr id="28" name="Text 26"/>
          <p:cNvSpPr/>
          <p:nvPr/>
        </p:nvSpPr>
        <p:spPr>
          <a:xfrm>
            <a:off x="4846320" y="3749040"/>
            <a:ext cx="3749040" cy="457200"/>
          </a:xfrm>
          <a:prstGeom prst="rect">
            <a:avLst/>
          </a:prstGeom>
          <a:noFill/>
          <a:ln/>
        </p:spPr>
        <p:txBody>
          <a:bodyPr wrap="square" rtlCol="0" anchor="ctr"/>
          <a:lstStyle/>
          <a:p>
            <a:pPr indent="0" marL="0">
              <a:buNone/>
            </a:pPr>
            <a:r>
              <a:rPr lang="en-US" sz="1200" dirty="0">
                <a:solidFill>
                  <a:srgbClr val="111827"/>
                </a:solidFill>
                <a:latin typeface="Calibri" pitchFamily="34" charset="0"/>
                <a:ea typeface="Calibri" pitchFamily="34" charset="-122"/>
                <a:cs typeface="Calibri" pitchFamily="34" charset="-120"/>
              </a:rPr>
              <a:t>5. Compress: choose QR or upper-triangle of Cₘ</a:t>
            </a:r>
            <a:endParaRPr lang="en-US" sz="1200" dirty="0"/>
          </a:p>
        </p:txBody>
      </p:sp>
      <p:sp>
        <p:nvSpPr>
          <p:cNvPr id="29" name="Shape 27"/>
          <p:cNvSpPr/>
          <p:nvPr/>
        </p:nvSpPr>
        <p:spPr>
          <a:xfrm>
            <a:off x="4754880" y="4297680"/>
            <a:ext cx="3931920" cy="502920"/>
          </a:xfrm>
          <a:prstGeom prst="rect">
            <a:avLst/>
          </a:prstGeom>
          <a:solidFill>
            <a:srgbClr val="FFFFFF"/>
          </a:solidFill>
          <a:ln w="6350">
            <a:solidFill>
              <a:srgbClr val="D1D5DB"/>
            </a:solidFill>
            <a:prstDash val="solid"/>
          </a:ln>
        </p:spPr>
      </p:sp>
      <p:sp>
        <p:nvSpPr>
          <p:cNvPr id="30" name="Text 28"/>
          <p:cNvSpPr/>
          <p:nvPr/>
        </p:nvSpPr>
        <p:spPr>
          <a:xfrm>
            <a:off x="4846320" y="4325112"/>
            <a:ext cx="3749040" cy="457200"/>
          </a:xfrm>
          <a:prstGeom prst="rect">
            <a:avLst/>
          </a:prstGeom>
          <a:noFill/>
          <a:ln/>
        </p:spPr>
        <p:txBody>
          <a:bodyPr wrap="square" rtlCol="0" anchor="ctr"/>
          <a:lstStyle/>
          <a:p>
            <a:pPr indent="0" marL="0">
              <a:buNone/>
            </a:pPr>
            <a:r>
              <a:rPr lang="en-US" sz="1200" dirty="0">
                <a:solidFill>
                  <a:srgbClr val="111827"/>
                </a:solidFill>
                <a:latin typeface="Calibri" pitchFamily="34" charset="0"/>
                <a:ea typeface="Calibri" pitchFamily="34" charset="-122"/>
                <a:cs typeface="Calibri" pitchFamily="34" charset="-120"/>
              </a:rPr>
              <a:t>6. Send (Cₘ, dₘ) back to Aggregator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indent="0" marL="0">
              <a:buNone/>
            </a:pPr>
            <a:r>
              <a:rPr lang="en-US" sz="3600" b="1" dirty="0">
                <a:solidFill>
                  <a:srgbClr val="1E2761"/>
                </a:solidFill>
                <a:latin typeface="Calibri" pitchFamily="34" charset="0"/>
                <a:ea typeface="Calibri" pitchFamily="34" charset="-122"/>
                <a:cs typeface="Calibri" pitchFamily="34" charset="-120"/>
              </a:rPr>
              <a:t>Communication Protocol</a:t>
            </a:r>
            <a:endParaRPr lang="en-US" sz="3600" dirty="0"/>
          </a:p>
        </p:txBody>
      </p:sp>
      <p:sp>
        <p:nvSpPr>
          <p:cNvPr id="3" name="Shape 1"/>
          <p:cNvSpPr/>
          <p:nvPr/>
        </p:nvSpPr>
        <p:spPr>
          <a:xfrm>
            <a:off x="3200400" y="914400"/>
            <a:ext cx="3200400" cy="822960"/>
          </a:xfrm>
          <a:prstGeom prst="rect">
            <a:avLst/>
          </a:prstGeom>
          <a:solidFill>
            <a:srgbClr val="1E2761"/>
          </a:solidFill>
          <a:ln w="12700">
            <a:solidFill>
              <a:srgbClr val="1E2761"/>
            </a:solidFill>
            <a:prstDash val="solid"/>
          </a:ln>
        </p:spPr>
      </p:sp>
      <p:sp>
        <p:nvSpPr>
          <p:cNvPr id="4" name="Text 2"/>
          <p:cNvSpPr/>
          <p:nvPr/>
        </p:nvSpPr>
        <p:spPr>
          <a:xfrm>
            <a:off x="3200400" y="960120"/>
            <a:ext cx="3200400" cy="3200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Aggregator</a:t>
            </a:r>
            <a:endParaRPr lang="en-US" sz="1500" dirty="0"/>
          </a:p>
        </p:txBody>
      </p:sp>
      <p:sp>
        <p:nvSpPr>
          <p:cNvPr id="5" name="Text 3"/>
          <p:cNvSpPr/>
          <p:nvPr/>
        </p:nvSpPr>
        <p:spPr>
          <a:xfrm>
            <a:off x="3291840" y="1261872"/>
            <a:ext cx="3017520" cy="4572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Initializes with seed 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Computes K̃ₚ</a:t>
            </a:r>
            <a:endParaRPr lang="en-US" sz="1100" dirty="0"/>
          </a:p>
        </p:txBody>
      </p:sp>
      <p:sp>
        <p:nvSpPr>
          <p:cNvPr id="6" name="Text 4"/>
          <p:cNvSpPr/>
          <p:nvPr/>
        </p:nvSpPr>
        <p:spPr>
          <a:xfrm>
            <a:off x="3474720" y="1691640"/>
            <a:ext cx="3200400" cy="365760"/>
          </a:xfrm>
          <a:prstGeom prst="rect">
            <a:avLst/>
          </a:prstGeom>
          <a:noFill/>
          <a:ln/>
        </p:spPr>
        <p:txBody>
          <a:bodyPr wrap="square"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  Broadcast β⁽ⁿ⁾</a:t>
            </a:r>
            <a:endParaRPr lang="en-US" sz="1300" dirty="0"/>
          </a:p>
        </p:txBody>
      </p:sp>
      <p:sp>
        <p:nvSpPr>
          <p:cNvPr id="7" name="Shape 5"/>
          <p:cNvSpPr/>
          <p:nvPr/>
        </p:nvSpPr>
        <p:spPr>
          <a:xfrm>
            <a:off x="2926080" y="2286000"/>
            <a:ext cx="3200400" cy="822960"/>
          </a:xfrm>
          <a:prstGeom prst="rect">
            <a:avLst/>
          </a:prstGeom>
          <a:solidFill>
            <a:srgbClr val="3B82F6"/>
          </a:solidFill>
          <a:ln w="12700">
            <a:solidFill>
              <a:srgbClr val="3B82F6"/>
            </a:solidFill>
            <a:prstDash val="solid"/>
          </a:ln>
        </p:spPr>
      </p:sp>
      <p:sp>
        <p:nvSpPr>
          <p:cNvPr id="8" name="Text 6"/>
          <p:cNvSpPr/>
          <p:nvPr/>
        </p:nvSpPr>
        <p:spPr>
          <a:xfrm>
            <a:off x="2926080" y="2331720"/>
            <a:ext cx="3200400" cy="3200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Workers</a:t>
            </a:r>
            <a:endParaRPr lang="en-US" sz="1500" dirty="0"/>
          </a:p>
        </p:txBody>
      </p:sp>
      <p:sp>
        <p:nvSpPr>
          <p:cNvPr id="9" name="Text 7"/>
          <p:cNvSpPr/>
          <p:nvPr/>
        </p:nvSpPr>
        <p:spPr>
          <a:xfrm>
            <a:off x="3017520" y="2633472"/>
            <a:ext cx="3017520" cy="4572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Compute Cₘ = K̃ₘᵀDₐK̃ₘ</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Compute dₘ = K̃ₘᵀDₐyₘ</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Compress &amp; send</a:t>
            </a:r>
            <a:endParaRPr lang="en-US" sz="1100" dirty="0"/>
          </a:p>
        </p:txBody>
      </p:sp>
      <p:sp>
        <p:nvSpPr>
          <p:cNvPr id="10" name="Text 8"/>
          <p:cNvSpPr/>
          <p:nvPr/>
        </p:nvSpPr>
        <p:spPr>
          <a:xfrm>
            <a:off x="3474720" y="3246120"/>
            <a:ext cx="3200400" cy="365760"/>
          </a:xfrm>
          <a:prstGeom prst="rect">
            <a:avLst/>
          </a:prstGeom>
          <a:noFill/>
          <a:ln/>
        </p:spPr>
        <p:txBody>
          <a:bodyPr wrap="square"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  Send (Cₘ, dₘ)</a:t>
            </a:r>
            <a:endParaRPr lang="en-US" sz="1300" dirty="0"/>
          </a:p>
        </p:txBody>
      </p:sp>
      <p:sp>
        <p:nvSpPr>
          <p:cNvPr id="11" name="Shape 9"/>
          <p:cNvSpPr/>
          <p:nvPr/>
        </p:nvSpPr>
        <p:spPr>
          <a:xfrm>
            <a:off x="2926080" y="3749040"/>
            <a:ext cx="3200400" cy="822960"/>
          </a:xfrm>
          <a:prstGeom prst="rect">
            <a:avLst/>
          </a:prstGeom>
          <a:solidFill>
            <a:srgbClr val="1E2761"/>
          </a:solidFill>
          <a:ln w="12700">
            <a:solidFill>
              <a:srgbClr val="1E2761"/>
            </a:solidFill>
            <a:prstDash val="solid"/>
          </a:ln>
        </p:spPr>
      </p:sp>
      <p:sp>
        <p:nvSpPr>
          <p:cNvPr id="12" name="Text 10"/>
          <p:cNvSpPr/>
          <p:nvPr/>
        </p:nvSpPr>
        <p:spPr>
          <a:xfrm>
            <a:off x="2926080" y="3794760"/>
            <a:ext cx="3200400" cy="3200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Aggregator</a:t>
            </a:r>
            <a:endParaRPr lang="en-US" sz="1500" dirty="0"/>
          </a:p>
        </p:txBody>
      </p:sp>
      <p:sp>
        <p:nvSpPr>
          <p:cNvPr id="13" name="Text 11"/>
          <p:cNvSpPr/>
          <p:nvPr/>
        </p:nvSpPr>
        <p:spPr>
          <a:xfrm>
            <a:off x="3017520" y="4096512"/>
            <a:ext cx="3017520" cy="4572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Aggregate Σ Cₘ + K̃ₚ</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Solve for β_new</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Update β⁽ⁿ⁺¹⁾</a:t>
            </a:r>
            <a:endParaRPr lang="en-US" sz="1100" dirty="0"/>
          </a:p>
        </p:txBody>
      </p:sp>
      <p:sp>
        <p:nvSpPr>
          <p:cNvPr id="14" name="Shape 12"/>
          <p:cNvSpPr/>
          <p:nvPr/>
        </p:nvSpPr>
        <p:spPr>
          <a:xfrm>
            <a:off x="6400800" y="914400"/>
            <a:ext cx="2286000" cy="3931920"/>
          </a:xfrm>
          <a:prstGeom prst="rect">
            <a:avLst/>
          </a:prstGeom>
          <a:solidFill>
            <a:srgbClr val="FFF8E1"/>
          </a:solidFill>
          <a:ln w="25400">
            <a:solidFill>
              <a:srgbClr val="F59E0B"/>
            </a:solidFill>
            <a:prstDash val="solid"/>
          </a:ln>
        </p:spPr>
      </p:sp>
      <p:sp>
        <p:nvSpPr>
          <p:cNvPr id="15" name="Text 13"/>
          <p:cNvSpPr/>
          <p:nvPr/>
        </p:nvSpPr>
        <p:spPr>
          <a:xfrm>
            <a:off x="6446520" y="1005840"/>
            <a:ext cx="2194560" cy="365760"/>
          </a:xfrm>
          <a:prstGeom prst="rect">
            <a:avLst/>
          </a:prstGeom>
          <a:noFill/>
          <a:ln/>
        </p:spPr>
        <p:txBody>
          <a:bodyPr wrap="square"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Key Innovation</a:t>
            </a:r>
            <a:endParaRPr lang="en-US" sz="1400" dirty="0"/>
          </a:p>
        </p:txBody>
      </p:sp>
      <p:sp>
        <p:nvSpPr>
          <p:cNvPr id="16" name="Text 14"/>
          <p:cNvSpPr/>
          <p:nvPr/>
        </p:nvSpPr>
        <p:spPr>
          <a:xfrm>
            <a:off x="6446520" y="1463040"/>
            <a:ext cx="2194560" cy="3200400"/>
          </a:xfrm>
          <a:prstGeom prst="rect">
            <a:avLst/>
          </a:prstGeom>
          <a:noFill/>
          <a:ln/>
        </p:spPr>
        <p:txBody>
          <a:bodyPr wrap="square" rtlCol="0" anchor="ctr"/>
          <a:lstStyle/>
          <a:p>
            <a:pPr marL="342900" indent="-342900">
              <a:spcAft>
                <a:spcPts val="800"/>
              </a:spcAft>
              <a:buSzPct val="100000"/>
              <a:buChar char="•"/>
            </a:pPr>
            <a:r>
              <a:rPr lang="en-US" sz="1100" dirty="0">
                <a:solidFill>
                  <a:srgbClr val="111827"/>
                </a:solidFill>
                <a:latin typeface="Calibri" pitchFamily="34" charset="0"/>
                <a:ea typeface="Calibri" pitchFamily="34" charset="-122"/>
                <a:cs typeface="Calibri" pitchFamily="34" charset="-120"/>
              </a:rPr>
              <a:t>Not exchanging raw data</a:t>
            </a:r>
            <a:endParaRPr lang="en-US" sz="1100" dirty="0"/>
          </a:p>
          <a:p>
            <a:pPr marL="342900" indent="-342900">
              <a:spcAft>
                <a:spcPts val="800"/>
              </a:spcAft>
              <a:buSzPct val="100000"/>
              <a:buChar char="•"/>
            </a:pPr>
            <a:r>
              <a:rPr lang="en-US" sz="1100" dirty="0">
                <a:solidFill>
                  <a:srgbClr val="111827"/>
                </a:solidFill>
                <a:latin typeface="Calibri" pitchFamily="34" charset="0"/>
                <a:ea typeface="Calibri" pitchFamily="34" charset="-122"/>
                <a:cs typeface="Calibri" pitchFamily="34" charset="-120"/>
              </a:rPr>
              <a:t>Not exchanging gradients</a:t>
            </a:r>
            <a:endParaRPr lang="en-US" sz="1100" dirty="0"/>
          </a:p>
          <a:p>
            <a:pPr marL="342900" indent="-342900">
              <a:spcAft>
                <a:spcPts val="800"/>
              </a:spcAft>
              <a:buSzPct val="100000"/>
              <a:buChar char="•"/>
            </a:pPr>
            <a:r>
              <a:rPr lang="en-US" sz="1100" dirty="0">
                <a:solidFill>
                  <a:srgbClr val="111827"/>
                </a:solidFill>
                <a:latin typeface="Calibri" pitchFamily="34" charset="0"/>
                <a:ea typeface="Calibri" pitchFamily="34" charset="-122"/>
                <a:cs typeface="Calibri" pitchFamily="34" charset="-120"/>
              </a:rPr>
              <a:t>Exchanging compressed Gram matrices only</a:t>
            </a:r>
            <a:endParaRPr lang="en-US" sz="1100" dirty="0"/>
          </a:p>
          <a:p>
            <a:pPr marL="342900" indent="-342900">
              <a:spcAft>
                <a:spcPts val="800"/>
              </a:spcAft>
              <a:buSzPct val="100000"/>
              <a:buChar char="•"/>
            </a:pPr>
            <a:r>
              <a:rPr lang="en-US" sz="1100" dirty="0">
                <a:solidFill>
                  <a:srgbClr val="111827"/>
                </a:solidFill>
                <a:latin typeface="Calibri" pitchFamily="34" charset="0"/>
                <a:ea typeface="Calibri" pitchFamily="34" charset="-122"/>
                <a:cs typeface="Calibri" pitchFamily="34" charset="-120"/>
              </a:rPr>
              <a:t>Two compression modes: QR or upper triangle</a:t>
            </a:r>
            <a:endParaRPr lang="en-US" sz="1100" dirty="0"/>
          </a:p>
          <a:p>
            <a:pPr marL="342900" indent="-342900">
              <a:spcAft>
                <a:spcPts val="800"/>
              </a:spcAft>
              <a:buSzPct val="100000"/>
              <a:buChar char="•"/>
            </a:pPr>
            <a:r>
              <a:rPr lang="en-US" sz="1100" dirty="0">
                <a:solidFill>
                  <a:srgbClr val="111827"/>
                </a:solidFill>
                <a:latin typeface="Calibri" pitchFamily="34" charset="0"/>
                <a:ea typeface="Calibri" pitchFamily="34" charset="-122"/>
                <a:cs typeface="Calibri" pitchFamily="34" charset="-120"/>
              </a:rPr>
              <a:t>Timeout mechanism for slow workers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indent="0" marL="0">
              <a:buNone/>
            </a:pPr>
            <a:r>
              <a:rPr lang="en-US" sz="3600" b="1" dirty="0">
                <a:solidFill>
                  <a:srgbClr val="1E2761"/>
                </a:solidFill>
                <a:latin typeface="Calibri" pitchFamily="34" charset="0"/>
                <a:ea typeface="Calibri" pitchFamily="34" charset="-122"/>
                <a:cs typeface="Calibri" pitchFamily="34" charset="-120"/>
              </a:rPr>
              <a:t>Code ↔ Paper Mapping (DSVM.py)</a:t>
            </a:r>
            <a:endParaRPr lang="en-US" sz="3600" dirty="0"/>
          </a:p>
        </p:txBody>
      </p:sp>
      <p:sp>
        <p:nvSpPr>
          <p:cNvPr id="3" name="Shape 1"/>
          <p:cNvSpPr/>
          <p:nvPr/>
        </p:nvSpPr>
        <p:spPr>
          <a:xfrm>
            <a:off x="274320" y="960120"/>
            <a:ext cx="2560320" cy="402336"/>
          </a:xfrm>
          <a:prstGeom prst="rect">
            <a:avLst/>
          </a:prstGeom>
          <a:solidFill>
            <a:srgbClr val="1E2761"/>
          </a:solidFill>
          <a:ln w="6350">
            <a:solidFill>
              <a:srgbClr val="D1D5DB"/>
            </a:solidFill>
            <a:prstDash val="solid"/>
          </a:ln>
        </p:spPr>
      </p:sp>
      <p:sp>
        <p:nvSpPr>
          <p:cNvPr id="4" name="Text 2"/>
          <p:cNvSpPr/>
          <p:nvPr/>
        </p:nvSpPr>
        <p:spPr>
          <a:xfrm>
            <a:off x="347472" y="1005840"/>
            <a:ext cx="2414016" cy="31089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Paper Concept</a:t>
            </a:r>
            <a:endParaRPr lang="en-US" sz="1300" dirty="0"/>
          </a:p>
        </p:txBody>
      </p:sp>
      <p:sp>
        <p:nvSpPr>
          <p:cNvPr id="5" name="Shape 3"/>
          <p:cNvSpPr/>
          <p:nvPr/>
        </p:nvSpPr>
        <p:spPr>
          <a:xfrm>
            <a:off x="2834640" y="960120"/>
            <a:ext cx="1920240" cy="402336"/>
          </a:xfrm>
          <a:prstGeom prst="rect">
            <a:avLst/>
          </a:prstGeom>
          <a:solidFill>
            <a:srgbClr val="1E2761"/>
          </a:solidFill>
          <a:ln w="6350">
            <a:solidFill>
              <a:srgbClr val="D1D5DB"/>
            </a:solidFill>
            <a:prstDash val="solid"/>
          </a:ln>
        </p:spPr>
      </p:sp>
      <p:sp>
        <p:nvSpPr>
          <p:cNvPr id="6" name="Text 4"/>
          <p:cNvSpPr/>
          <p:nvPr/>
        </p:nvSpPr>
        <p:spPr>
          <a:xfrm>
            <a:off x="2907792" y="1005840"/>
            <a:ext cx="1773936" cy="31089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Algorithm Step</a:t>
            </a:r>
            <a:endParaRPr lang="en-US" sz="1300" dirty="0"/>
          </a:p>
        </p:txBody>
      </p:sp>
      <p:sp>
        <p:nvSpPr>
          <p:cNvPr id="7" name="Shape 5"/>
          <p:cNvSpPr/>
          <p:nvPr/>
        </p:nvSpPr>
        <p:spPr>
          <a:xfrm>
            <a:off x="4754880" y="960120"/>
            <a:ext cx="4206240" cy="402336"/>
          </a:xfrm>
          <a:prstGeom prst="rect">
            <a:avLst/>
          </a:prstGeom>
          <a:solidFill>
            <a:srgbClr val="1E2761"/>
          </a:solidFill>
          <a:ln w="6350">
            <a:solidFill>
              <a:srgbClr val="D1D5DB"/>
            </a:solidFill>
            <a:prstDash val="solid"/>
          </a:ln>
        </p:spPr>
      </p:sp>
      <p:sp>
        <p:nvSpPr>
          <p:cNvPr id="8" name="Text 6"/>
          <p:cNvSpPr/>
          <p:nvPr/>
        </p:nvSpPr>
        <p:spPr>
          <a:xfrm>
            <a:off x="4828032" y="1005840"/>
            <a:ext cx="4059936" cy="31089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Code Location</a:t>
            </a:r>
            <a:endParaRPr lang="en-US" sz="1300" dirty="0"/>
          </a:p>
        </p:txBody>
      </p:sp>
      <p:sp>
        <p:nvSpPr>
          <p:cNvPr id="9" name="Shape 7"/>
          <p:cNvSpPr/>
          <p:nvPr/>
        </p:nvSpPr>
        <p:spPr>
          <a:xfrm>
            <a:off x="274320" y="1362456"/>
            <a:ext cx="2560320" cy="402336"/>
          </a:xfrm>
          <a:prstGeom prst="rect">
            <a:avLst/>
          </a:prstGeom>
          <a:solidFill>
            <a:srgbClr val="FFFFFF"/>
          </a:solidFill>
          <a:ln w="6350">
            <a:solidFill>
              <a:srgbClr val="D1D5DB"/>
            </a:solidFill>
            <a:prstDash val="solid"/>
          </a:ln>
        </p:spPr>
      </p:sp>
      <p:sp>
        <p:nvSpPr>
          <p:cNvPr id="10" name="Text 8"/>
          <p:cNvSpPr/>
          <p:nvPr/>
        </p:nvSpPr>
        <p:spPr>
          <a:xfrm>
            <a:off x="347472" y="1408176"/>
            <a:ext cx="241401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Seed + Centroids</a:t>
            </a:r>
            <a:endParaRPr lang="en-US" sz="1100" dirty="0"/>
          </a:p>
        </p:txBody>
      </p:sp>
      <p:sp>
        <p:nvSpPr>
          <p:cNvPr id="11" name="Shape 9"/>
          <p:cNvSpPr/>
          <p:nvPr/>
        </p:nvSpPr>
        <p:spPr>
          <a:xfrm>
            <a:off x="2834640" y="1362456"/>
            <a:ext cx="1920240" cy="402336"/>
          </a:xfrm>
          <a:prstGeom prst="rect">
            <a:avLst/>
          </a:prstGeom>
          <a:solidFill>
            <a:srgbClr val="FFFFFF"/>
          </a:solidFill>
          <a:ln w="6350">
            <a:solidFill>
              <a:srgbClr val="D1D5DB"/>
            </a:solidFill>
            <a:prstDash val="solid"/>
          </a:ln>
        </p:spPr>
      </p:sp>
      <p:sp>
        <p:nvSpPr>
          <p:cNvPr id="12" name="Text 10"/>
          <p:cNvSpPr/>
          <p:nvPr/>
        </p:nvSpPr>
        <p:spPr>
          <a:xfrm>
            <a:off x="2907792" y="1408176"/>
            <a:ext cx="177393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Alg 2 Line 2</a:t>
            </a:r>
            <a:endParaRPr lang="en-US" sz="1100" dirty="0"/>
          </a:p>
        </p:txBody>
      </p:sp>
      <p:sp>
        <p:nvSpPr>
          <p:cNvPr id="13" name="Shape 11"/>
          <p:cNvSpPr/>
          <p:nvPr/>
        </p:nvSpPr>
        <p:spPr>
          <a:xfrm>
            <a:off x="4754880" y="1362456"/>
            <a:ext cx="4206240" cy="402336"/>
          </a:xfrm>
          <a:prstGeom prst="rect">
            <a:avLst/>
          </a:prstGeom>
          <a:solidFill>
            <a:srgbClr val="FFFFFF"/>
          </a:solidFill>
          <a:ln w="6350">
            <a:solidFill>
              <a:srgbClr val="D1D5DB"/>
            </a:solidFill>
            <a:prstDash val="solid"/>
          </a:ln>
        </p:spPr>
      </p:sp>
      <p:sp>
        <p:nvSpPr>
          <p:cNvPr id="14" name="Text 12"/>
          <p:cNvSpPr/>
          <p:nvPr/>
        </p:nvSpPr>
        <p:spPr>
          <a:xfrm>
            <a:off x="4828032" y="1408176"/>
            <a:ext cx="405993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TakeAction_Master() — seed + np.random.uniform</a:t>
            </a:r>
            <a:endParaRPr lang="en-US" sz="1100" dirty="0"/>
          </a:p>
        </p:txBody>
      </p:sp>
      <p:sp>
        <p:nvSpPr>
          <p:cNvPr id="15" name="Shape 13"/>
          <p:cNvSpPr/>
          <p:nvPr/>
        </p:nvSpPr>
        <p:spPr>
          <a:xfrm>
            <a:off x="274320" y="1764792"/>
            <a:ext cx="2560320" cy="402336"/>
          </a:xfrm>
          <a:prstGeom prst="rect">
            <a:avLst/>
          </a:prstGeom>
          <a:solidFill>
            <a:srgbClr val="F0F4FF"/>
          </a:solidFill>
          <a:ln w="6350">
            <a:solidFill>
              <a:srgbClr val="D1D5DB"/>
            </a:solidFill>
            <a:prstDash val="solid"/>
          </a:ln>
        </p:spPr>
      </p:sp>
      <p:sp>
        <p:nvSpPr>
          <p:cNvPr id="16" name="Text 14"/>
          <p:cNvSpPr/>
          <p:nvPr/>
        </p:nvSpPr>
        <p:spPr>
          <a:xfrm>
            <a:off x="347472" y="1810512"/>
            <a:ext cx="241401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Broadcast weights</a:t>
            </a:r>
            <a:endParaRPr lang="en-US" sz="1100" dirty="0"/>
          </a:p>
        </p:txBody>
      </p:sp>
      <p:sp>
        <p:nvSpPr>
          <p:cNvPr id="17" name="Shape 15"/>
          <p:cNvSpPr/>
          <p:nvPr/>
        </p:nvSpPr>
        <p:spPr>
          <a:xfrm>
            <a:off x="2834640" y="1764792"/>
            <a:ext cx="1920240" cy="402336"/>
          </a:xfrm>
          <a:prstGeom prst="rect">
            <a:avLst/>
          </a:prstGeom>
          <a:solidFill>
            <a:srgbClr val="F0F4FF"/>
          </a:solidFill>
          <a:ln w="6350">
            <a:solidFill>
              <a:srgbClr val="D1D5DB"/>
            </a:solidFill>
            <a:prstDash val="solid"/>
          </a:ln>
        </p:spPr>
      </p:sp>
      <p:sp>
        <p:nvSpPr>
          <p:cNvPr id="18" name="Text 16"/>
          <p:cNvSpPr/>
          <p:nvPr/>
        </p:nvSpPr>
        <p:spPr>
          <a:xfrm>
            <a:off x="2907792" y="1810512"/>
            <a:ext cx="177393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Alg 2 Line 5</a:t>
            </a:r>
            <a:endParaRPr lang="en-US" sz="1100" dirty="0"/>
          </a:p>
        </p:txBody>
      </p:sp>
      <p:sp>
        <p:nvSpPr>
          <p:cNvPr id="19" name="Shape 17"/>
          <p:cNvSpPr/>
          <p:nvPr/>
        </p:nvSpPr>
        <p:spPr>
          <a:xfrm>
            <a:off x="4754880" y="1764792"/>
            <a:ext cx="4206240" cy="402336"/>
          </a:xfrm>
          <a:prstGeom prst="rect">
            <a:avLst/>
          </a:prstGeom>
          <a:solidFill>
            <a:srgbClr val="F0F4FF"/>
          </a:solidFill>
          <a:ln w="6350">
            <a:solidFill>
              <a:srgbClr val="D1D5DB"/>
            </a:solidFill>
            <a:prstDash val="solid"/>
          </a:ln>
        </p:spPr>
      </p:sp>
      <p:sp>
        <p:nvSpPr>
          <p:cNvPr id="20" name="Text 18"/>
          <p:cNvSpPr/>
          <p:nvPr/>
        </p:nvSpPr>
        <p:spPr>
          <a:xfrm>
            <a:off x="4828032" y="1810512"/>
            <a:ext cx="405993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comms.broadcast({'weights': model.weights})</a:t>
            </a:r>
            <a:endParaRPr lang="en-US" sz="1100" dirty="0"/>
          </a:p>
        </p:txBody>
      </p:sp>
      <p:sp>
        <p:nvSpPr>
          <p:cNvPr id="21" name="Shape 19"/>
          <p:cNvSpPr/>
          <p:nvPr/>
        </p:nvSpPr>
        <p:spPr>
          <a:xfrm>
            <a:off x="274320" y="2167128"/>
            <a:ext cx="2560320" cy="402336"/>
          </a:xfrm>
          <a:prstGeom prst="rect">
            <a:avLst/>
          </a:prstGeom>
          <a:solidFill>
            <a:srgbClr val="FFFFFF"/>
          </a:solidFill>
          <a:ln w="6350">
            <a:solidFill>
              <a:srgbClr val="D1D5DB"/>
            </a:solidFill>
            <a:prstDash val="solid"/>
          </a:ln>
        </p:spPr>
      </p:sp>
      <p:sp>
        <p:nvSpPr>
          <p:cNvPr id="22" name="Text 20"/>
          <p:cNvSpPr/>
          <p:nvPr/>
        </p:nvSpPr>
        <p:spPr>
          <a:xfrm>
            <a:off x="347472" y="2212848"/>
            <a:ext cx="241401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Compute errors eₘ</a:t>
            </a:r>
            <a:endParaRPr lang="en-US" sz="1100" dirty="0"/>
          </a:p>
        </p:txBody>
      </p:sp>
      <p:sp>
        <p:nvSpPr>
          <p:cNvPr id="23" name="Shape 21"/>
          <p:cNvSpPr/>
          <p:nvPr/>
        </p:nvSpPr>
        <p:spPr>
          <a:xfrm>
            <a:off x="2834640" y="2167128"/>
            <a:ext cx="1920240" cy="402336"/>
          </a:xfrm>
          <a:prstGeom prst="rect">
            <a:avLst/>
          </a:prstGeom>
          <a:solidFill>
            <a:srgbClr val="FFFFFF"/>
          </a:solidFill>
          <a:ln w="6350">
            <a:solidFill>
              <a:srgbClr val="D1D5DB"/>
            </a:solidFill>
            <a:prstDash val="solid"/>
          </a:ln>
        </p:spPr>
      </p:sp>
      <p:sp>
        <p:nvSpPr>
          <p:cNvPr id="24" name="Text 22"/>
          <p:cNvSpPr/>
          <p:nvPr/>
        </p:nvSpPr>
        <p:spPr>
          <a:xfrm>
            <a:off x="2907792" y="2212848"/>
            <a:ext cx="177393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Alg 3 Line 5</a:t>
            </a:r>
            <a:endParaRPr lang="en-US" sz="1100" dirty="0"/>
          </a:p>
        </p:txBody>
      </p:sp>
      <p:sp>
        <p:nvSpPr>
          <p:cNvPr id="25" name="Shape 23"/>
          <p:cNvSpPr/>
          <p:nvPr/>
        </p:nvSpPr>
        <p:spPr>
          <a:xfrm>
            <a:off x="4754880" y="2167128"/>
            <a:ext cx="4206240" cy="402336"/>
          </a:xfrm>
          <a:prstGeom prst="rect">
            <a:avLst/>
          </a:prstGeom>
          <a:solidFill>
            <a:srgbClr val="FFFFFF"/>
          </a:solidFill>
          <a:ln w="6350">
            <a:solidFill>
              <a:srgbClr val="D1D5DB"/>
            </a:solidFill>
            <a:prstDash val="solid"/>
          </a:ln>
        </p:spPr>
      </p:sp>
      <p:sp>
        <p:nvSpPr>
          <p:cNvPr id="26" name="Text 24"/>
          <p:cNvSpPr/>
          <p:nvPr/>
        </p:nvSpPr>
        <p:spPr>
          <a:xfrm>
            <a:off x="4828032" y="2212848"/>
            <a:ext cx="405993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o = KXC @ weights ; e = ytr − o</a:t>
            </a:r>
            <a:endParaRPr lang="en-US" sz="1100" dirty="0"/>
          </a:p>
        </p:txBody>
      </p:sp>
      <p:sp>
        <p:nvSpPr>
          <p:cNvPr id="27" name="Shape 25"/>
          <p:cNvSpPr/>
          <p:nvPr/>
        </p:nvSpPr>
        <p:spPr>
          <a:xfrm>
            <a:off x="274320" y="2569464"/>
            <a:ext cx="2560320" cy="402336"/>
          </a:xfrm>
          <a:prstGeom prst="rect">
            <a:avLst/>
          </a:prstGeom>
          <a:solidFill>
            <a:srgbClr val="F0F4FF"/>
          </a:solidFill>
          <a:ln w="6350">
            <a:solidFill>
              <a:srgbClr val="D1D5DB"/>
            </a:solidFill>
            <a:prstDash val="solid"/>
          </a:ln>
        </p:spPr>
      </p:sp>
      <p:sp>
        <p:nvSpPr>
          <p:cNvPr id="28" name="Text 26"/>
          <p:cNvSpPr/>
          <p:nvPr/>
        </p:nvSpPr>
        <p:spPr>
          <a:xfrm>
            <a:off x="347472" y="2615184"/>
            <a:ext cx="241401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IRWLS weights aᵢ</a:t>
            </a:r>
            <a:endParaRPr lang="en-US" sz="1100" dirty="0"/>
          </a:p>
        </p:txBody>
      </p:sp>
      <p:sp>
        <p:nvSpPr>
          <p:cNvPr id="29" name="Shape 27"/>
          <p:cNvSpPr/>
          <p:nvPr/>
        </p:nvSpPr>
        <p:spPr>
          <a:xfrm>
            <a:off x="2834640" y="2569464"/>
            <a:ext cx="1920240" cy="402336"/>
          </a:xfrm>
          <a:prstGeom prst="rect">
            <a:avLst/>
          </a:prstGeom>
          <a:solidFill>
            <a:srgbClr val="F0F4FF"/>
          </a:solidFill>
          <a:ln w="6350">
            <a:solidFill>
              <a:srgbClr val="D1D5DB"/>
            </a:solidFill>
            <a:prstDash val="solid"/>
          </a:ln>
        </p:spPr>
      </p:sp>
      <p:sp>
        <p:nvSpPr>
          <p:cNvPr id="30" name="Text 28"/>
          <p:cNvSpPr/>
          <p:nvPr/>
        </p:nvSpPr>
        <p:spPr>
          <a:xfrm>
            <a:off x="2907792" y="2615184"/>
            <a:ext cx="177393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Alg 3 Line 6</a:t>
            </a:r>
            <a:endParaRPr lang="en-US" sz="1100" dirty="0"/>
          </a:p>
        </p:txBody>
      </p:sp>
      <p:sp>
        <p:nvSpPr>
          <p:cNvPr id="31" name="Shape 29"/>
          <p:cNvSpPr/>
          <p:nvPr/>
        </p:nvSpPr>
        <p:spPr>
          <a:xfrm>
            <a:off x="4754880" y="2569464"/>
            <a:ext cx="4206240" cy="402336"/>
          </a:xfrm>
          <a:prstGeom prst="rect">
            <a:avLst/>
          </a:prstGeom>
          <a:solidFill>
            <a:srgbClr val="F0F4FF"/>
          </a:solidFill>
          <a:ln w="6350">
            <a:solidFill>
              <a:srgbClr val="D1D5DB"/>
            </a:solidFill>
            <a:prstDash val="solid"/>
          </a:ln>
        </p:spPr>
      </p:sp>
      <p:sp>
        <p:nvSpPr>
          <p:cNvPr id="32" name="Text 30"/>
          <p:cNvSpPr/>
          <p:nvPr/>
        </p:nvSpPr>
        <p:spPr>
          <a:xfrm>
            <a:off x="4828032" y="2615184"/>
            <a:ext cx="405993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a = 2*C/eps ; a[ey&lt;0] = 0</a:t>
            </a:r>
            <a:endParaRPr lang="en-US" sz="1100" dirty="0"/>
          </a:p>
        </p:txBody>
      </p:sp>
      <p:sp>
        <p:nvSpPr>
          <p:cNvPr id="33" name="Shape 31"/>
          <p:cNvSpPr/>
          <p:nvPr/>
        </p:nvSpPr>
        <p:spPr>
          <a:xfrm>
            <a:off x="274320" y="2971800"/>
            <a:ext cx="2560320" cy="402336"/>
          </a:xfrm>
          <a:prstGeom prst="rect">
            <a:avLst/>
          </a:prstGeom>
          <a:solidFill>
            <a:srgbClr val="FFFFFF"/>
          </a:solidFill>
          <a:ln w="6350">
            <a:solidFill>
              <a:srgbClr val="D1D5DB"/>
            </a:solidFill>
            <a:prstDash val="solid"/>
          </a:ln>
        </p:spPr>
      </p:sp>
      <p:sp>
        <p:nvSpPr>
          <p:cNvPr id="34" name="Text 32"/>
          <p:cNvSpPr/>
          <p:nvPr/>
        </p:nvSpPr>
        <p:spPr>
          <a:xfrm>
            <a:off x="347472" y="3017520"/>
            <a:ext cx="241401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Gram matrix Cₘ</a:t>
            </a:r>
            <a:endParaRPr lang="en-US" sz="1100" dirty="0"/>
          </a:p>
        </p:txBody>
      </p:sp>
      <p:sp>
        <p:nvSpPr>
          <p:cNvPr id="35" name="Shape 33"/>
          <p:cNvSpPr/>
          <p:nvPr/>
        </p:nvSpPr>
        <p:spPr>
          <a:xfrm>
            <a:off x="2834640" y="2971800"/>
            <a:ext cx="1920240" cy="402336"/>
          </a:xfrm>
          <a:prstGeom prst="rect">
            <a:avLst/>
          </a:prstGeom>
          <a:solidFill>
            <a:srgbClr val="FFFFFF"/>
          </a:solidFill>
          <a:ln w="6350">
            <a:solidFill>
              <a:srgbClr val="D1D5DB"/>
            </a:solidFill>
            <a:prstDash val="solid"/>
          </a:ln>
        </p:spPr>
      </p:sp>
      <p:sp>
        <p:nvSpPr>
          <p:cNvPr id="36" name="Text 34"/>
          <p:cNvSpPr/>
          <p:nvPr/>
        </p:nvSpPr>
        <p:spPr>
          <a:xfrm>
            <a:off x="2907792" y="3017520"/>
            <a:ext cx="177393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Alg 3 Line 7</a:t>
            </a:r>
            <a:endParaRPr lang="en-US" sz="1100" dirty="0"/>
          </a:p>
        </p:txBody>
      </p:sp>
      <p:sp>
        <p:nvSpPr>
          <p:cNvPr id="37" name="Shape 35"/>
          <p:cNvSpPr/>
          <p:nvPr/>
        </p:nvSpPr>
        <p:spPr>
          <a:xfrm>
            <a:off x="4754880" y="2971800"/>
            <a:ext cx="4206240" cy="402336"/>
          </a:xfrm>
          <a:prstGeom prst="rect">
            <a:avLst/>
          </a:prstGeom>
          <a:solidFill>
            <a:srgbClr val="FFFFFF"/>
          </a:solidFill>
          <a:ln w="6350">
            <a:solidFill>
              <a:srgbClr val="D1D5DB"/>
            </a:solidFill>
            <a:prstDash val="solid"/>
          </a:ln>
        </p:spPr>
      </p:sp>
      <p:sp>
        <p:nvSpPr>
          <p:cNvPr id="38" name="Text 36"/>
          <p:cNvSpPr/>
          <p:nvPr/>
        </p:nvSpPr>
        <p:spPr>
          <a:xfrm>
            <a:off x="4828032" y="3017520"/>
            <a:ext cx="405993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Cx = KXC.T @ (KXC * a)</a:t>
            </a:r>
            <a:endParaRPr lang="en-US" sz="1100" dirty="0"/>
          </a:p>
        </p:txBody>
      </p:sp>
      <p:sp>
        <p:nvSpPr>
          <p:cNvPr id="39" name="Shape 37"/>
          <p:cNvSpPr/>
          <p:nvPr/>
        </p:nvSpPr>
        <p:spPr>
          <a:xfrm>
            <a:off x="274320" y="3374136"/>
            <a:ext cx="2560320" cy="402336"/>
          </a:xfrm>
          <a:prstGeom prst="rect">
            <a:avLst/>
          </a:prstGeom>
          <a:solidFill>
            <a:srgbClr val="F0F4FF"/>
          </a:solidFill>
          <a:ln w="6350">
            <a:solidFill>
              <a:srgbClr val="D1D5DB"/>
            </a:solidFill>
            <a:prstDash val="solid"/>
          </a:ln>
        </p:spPr>
      </p:sp>
      <p:sp>
        <p:nvSpPr>
          <p:cNvPr id="40" name="Text 38"/>
          <p:cNvSpPr/>
          <p:nvPr/>
        </p:nvSpPr>
        <p:spPr>
          <a:xfrm>
            <a:off x="347472" y="3419856"/>
            <a:ext cx="241401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Compress Cₘ</a:t>
            </a:r>
            <a:endParaRPr lang="en-US" sz="1100" dirty="0"/>
          </a:p>
        </p:txBody>
      </p:sp>
      <p:sp>
        <p:nvSpPr>
          <p:cNvPr id="41" name="Shape 39"/>
          <p:cNvSpPr/>
          <p:nvPr/>
        </p:nvSpPr>
        <p:spPr>
          <a:xfrm>
            <a:off x="2834640" y="3374136"/>
            <a:ext cx="1920240" cy="402336"/>
          </a:xfrm>
          <a:prstGeom prst="rect">
            <a:avLst/>
          </a:prstGeom>
          <a:solidFill>
            <a:srgbClr val="F0F4FF"/>
          </a:solidFill>
          <a:ln w="6350">
            <a:solidFill>
              <a:srgbClr val="D1D5DB"/>
            </a:solidFill>
            <a:prstDash val="solid"/>
          </a:ln>
        </p:spPr>
      </p:sp>
      <p:sp>
        <p:nvSpPr>
          <p:cNvPr id="42" name="Text 40"/>
          <p:cNvSpPr/>
          <p:nvPr/>
        </p:nvSpPr>
        <p:spPr>
          <a:xfrm>
            <a:off x="2907792" y="3419856"/>
            <a:ext cx="177393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Alg 3 Line 8</a:t>
            </a:r>
            <a:endParaRPr lang="en-US" sz="1100" dirty="0"/>
          </a:p>
        </p:txBody>
      </p:sp>
      <p:sp>
        <p:nvSpPr>
          <p:cNvPr id="43" name="Shape 41"/>
          <p:cNvSpPr/>
          <p:nvPr/>
        </p:nvSpPr>
        <p:spPr>
          <a:xfrm>
            <a:off x="4754880" y="3374136"/>
            <a:ext cx="4206240" cy="402336"/>
          </a:xfrm>
          <a:prstGeom prst="rect">
            <a:avLst/>
          </a:prstGeom>
          <a:solidFill>
            <a:srgbClr val="F0F4FF"/>
          </a:solidFill>
          <a:ln w="6350">
            <a:solidFill>
              <a:srgbClr val="D1D5DB"/>
            </a:solidFill>
            <a:prstDash val="solid"/>
          </a:ln>
        </p:spPr>
      </p:sp>
      <p:sp>
        <p:nvSpPr>
          <p:cNvPr id="44" name="Text 42"/>
          <p:cNvSpPr/>
          <p:nvPr/>
        </p:nvSpPr>
        <p:spPr>
          <a:xfrm>
            <a:off x="4828032" y="3419856"/>
            <a:ext cx="405993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QR decomp or upper triangle v_triu</a:t>
            </a:r>
            <a:endParaRPr lang="en-US" sz="1100" dirty="0"/>
          </a:p>
        </p:txBody>
      </p:sp>
      <p:sp>
        <p:nvSpPr>
          <p:cNvPr id="45" name="Shape 43"/>
          <p:cNvSpPr/>
          <p:nvPr/>
        </p:nvSpPr>
        <p:spPr>
          <a:xfrm>
            <a:off x="274320" y="3776472"/>
            <a:ext cx="2560320" cy="402336"/>
          </a:xfrm>
          <a:prstGeom prst="rect">
            <a:avLst/>
          </a:prstGeom>
          <a:solidFill>
            <a:srgbClr val="FFFFFF"/>
          </a:solidFill>
          <a:ln w="6350">
            <a:solidFill>
              <a:srgbClr val="D1D5DB"/>
            </a:solidFill>
            <a:prstDash val="solid"/>
          </a:ln>
        </p:spPr>
      </p:sp>
      <p:sp>
        <p:nvSpPr>
          <p:cNvPr id="46" name="Text 44"/>
          <p:cNvSpPr/>
          <p:nvPr/>
        </p:nvSpPr>
        <p:spPr>
          <a:xfrm>
            <a:off x="347472" y="3822192"/>
            <a:ext cx="241401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Aggregate Σ Cₘ</a:t>
            </a:r>
            <a:endParaRPr lang="en-US" sz="1100" dirty="0"/>
          </a:p>
        </p:txBody>
      </p:sp>
      <p:sp>
        <p:nvSpPr>
          <p:cNvPr id="47" name="Shape 45"/>
          <p:cNvSpPr/>
          <p:nvPr/>
        </p:nvSpPr>
        <p:spPr>
          <a:xfrm>
            <a:off x="2834640" y="3776472"/>
            <a:ext cx="1920240" cy="402336"/>
          </a:xfrm>
          <a:prstGeom prst="rect">
            <a:avLst/>
          </a:prstGeom>
          <a:solidFill>
            <a:srgbClr val="FFFFFF"/>
          </a:solidFill>
          <a:ln w="6350">
            <a:solidFill>
              <a:srgbClr val="D1D5DB"/>
            </a:solidFill>
            <a:prstDash val="solid"/>
          </a:ln>
        </p:spPr>
      </p:sp>
      <p:sp>
        <p:nvSpPr>
          <p:cNvPr id="48" name="Text 46"/>
          <p:cNvSpPr/>
          <p:nvPr/>
        </p:nvSpPr>
        <p:spPr>
          <a:xfrm>
            <a:off x="2907792" y="3822192"/>
            <a:ext cx="177393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Alg 2 Line 7</a:t>
            </a:r>
            <a:endParaRPr lang="en-US" sz="1100" dirty="0"/>
          </a:p>
        </p:txBody>
      </p:sp>
      <p:sp>
        <p:nvSpPr>
          <p:cNvPr id="49" name="Shape 47"/>
          <p:cNvSpPr/>
          <p:nvPr/>
        </p:nvSpPr>
        <p:spPr>
          <a:xfrm>
            <a:off x="4754880" y="3776472"/>
            <a:ext cx="4206240" cy="402336"/>
          </a:xfrm>
          <a:prstGeom prst="rect">
            <a:avLst/>
          </a:prstGeom>
          <a:solidFill>
            <a:srgbClr val="FFFFFF"/>
          </a:solidFill>
          <a:ln w="6350">
            <a:solidFill>
              <a:srgbClr val="D1D5DB"/>
            </a:solidFill>
            <a:prstDash val="solid"/>
          </a:ln>
        </p:spPr>
      </p:sp>
      <p:sp>
        <p:nvSpPr>
          <p:cNvPr id="50" name="Text 48"/>
          <p:cNvSpPr/>
          <p:nvPr/>
        </p:nvSpPr>
        <p:spPr>
          <a:xfrm>
            <a:off x="4828032" y="3822192"/>
            <a:ext cx="405993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KTK = sum(C_reconstruct)</a:t>
            </a:r>
            <a:endParaRPr lang="en-US" sz="1100" dirty="0"/>
          </a:p>
        </p:txBody>
      </p:sp>
      <p:sp>
        <p:nvSpPr>
          <p:cNvPr id="51" name="Shape 49"/>
          <p:cNvSpPr/>
          <p:nvPr/>
        </p:nvSpPr>
        <p:spPr>
          <a:xfrm>
            <a:off x="274320" y="4178808"/>
            <a:ext cx="2560320" cy="402336"/>
          </a:xfrm>
          <a:prstGeom prst="rect">
            <a:avLst/>
          </a:prstGeom>
          <a:solidFill>
            <a:srgbClr val="F0F4FF"/>
          </a:solidFill>
          <a:ln w="6350">
            <a:solidFill>
              <a:srgbClr val="D1D5DB"/>
            </a:solidFill>
            <a:prstDash val="solid"/>
          </a:ln>
        </p:spPr>
      </p:sp>
      <p:sp>
        <p:nvSpPr>
          <p:cNvPr id="52" name="Text 50"/>
          <p:cNvSpPr/>
          <p:nvPr/>
        </p:nvSpPr>
        <p:spPr>
          <a:xfrm>
            <a:off x="347472" y="4224528"/>
            <a:ext cx="241401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Solve β_new</a:t>
            </a:r>
            <a:endParaRPr lang="en-US" sz="1100" dirty="0"/>
          </a:p>
        </p:txBody>
      </p:sp>
      <p:sp>
        <p:nvSpPr>
          <p:cNvPr id="53" name="Shape 51"/>
          <p:cNvSpPr/>
          <p:nvPr/>
        </p:nvSpPr>
        <p:spPr>
          <a:xfrm>
            <a:off x="2834640" y="4178808"/>
            <a:ext cx="1920240" cy="402336"/>
          </a:xfrm>
          <a:prstGeom prst="rect">
            <a:avLst/>
          </a:prstGeom>
          <a:solidFill>
            <a:srgbClr val="F0F4FF"/>
          </a:solidFill>
          <a:ln w="6350">
            <a:solidFill>
              <a:srgbClr val="D1D5DB"/>
            </a:solidFill>
            <a:prstDash val="solid"/>
          </a:ln>
        </p:spPr>
      </p:sp>
      <p:sp>
        <p:nvSpPr>
          <p:cNvPr id="54" name="Text 52"/>
          <p:cNvSpPr/>
          <p:nvPr/>
        </p:nvSpPr>
        <p:spPr>
          <a:xfrm>
            <a:off x="2907792" y="4224528"/>
            <a:ext cx="177393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Alg 2 Line 7</a:t>
            </a:r>
            <a:endParaRPr lang="en-US" sz="1100" dirty="0"/>
          </a:p>
        </p:txBody>
      </p:sp>
      <p:sp>
        <p:nvSpPr>
          <p:cNvPr id="55" name="Shape 53"/>
          <p:cNvSpPr/>
          <p:nvPr/>
        </p:nvSpPr>
        <p:spPr>
          <a:xfrm>
            <a:off x="4754880" y="4178808"/>
            <a:ext cx="4206240" cy="402336"/>
          </a:xfrm>
          <a:prstGeom prst="rect">
            <a:avLst/>
          </a:prstGeom>
          <a:solidFill>
            <a:srgbClr val="F0F4FF"/>
          </a:solidFill>
          <a:ln w="6350">
            <a:solidFill>
              <a:srgbClr val="D1D5DB"/>
            </a:solidFill>
            <a:prstDash val="solid"/>
          </a:ln>
        </p:spPr>
      </p:sp>
      <p:sp>
        <p:nvSpPr>
          <p:cNvPr id="56" name="Text 54"/>
          <p:cNvSpPr/>
          <p:nvPr/>
        </p:nvSpPr>
        <p:spPr>
          <a:xfrm>
            <a:off x="4828032" y="4224528"/>
            <a:ext cx="405993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new_w = inv(KTK + Kcc) @ KTy</a:t>
            </a:r>
            <a:endParaRPr lang="en-US" sz="1100" dirty="0"/>
          </a:p>
        </p:txBody>
      </p:sp>
      <p:sp>
        <p:nvSpPr>
          <p:cNvPr id="57" name="Shape 55"/>
          <p:cNvSpPr/>
          <p:nvPr/>
        </p:nvSpPr>
        <p:spPr>
          <a:xfrm>
            <a:off x="274320" y="4581144"/>
            <a:ext cx="2560320" cy="402336"/>
          </a:xfrm>
          <a:prstGeom prst="rect">
            <a:avLst/>
          </a:prstGeom>
          <a:solidFill>
            <a:srgbClr val="FFFFFF"/>
          </a:solidFill>
          <a:ln w="6350">
            <a:solidFill>
              <a:srgbClr val="D1D5DB"/>
            </a:solidFill>
            <a:prstDash val="solid"/>
          </a:ln>
        </p:spPr>
      </p:sp>
      <p:sp>
        <p:nvSpPr>
          <p:cNvPr id="58" name="Text 56"/>
          <p:cNvSpPr/>
          <p:nvPr/>
        </p:nvSpPr>
        <p:spPr>
          <a:xfrm>
            <a:off x="347472" y="4626864"/>
            <a:ext cx="241401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Line search update</a:t>
            </a:r>
            <a:endParaRPr lang="en-US" sz="1100" dirty="0"/>
          </a:p>
        </p:txBody>
      </p:sp>
      <p:sp>
        <p:nvSpPr>
          <p:cNvPr id="59" name="Shape 57"/>
          <p:cNvSpPr/>
          <p:nvPr/>
        </p:nvSpPr>
        <p:spPr>
          <a:xfrm>
            <a:off x="2834640" y="4581144"/>
            <a:ext cx="1920240" cy="402336"/>
          </a:xfrm>
          <a:prstGeom prst="rect">
            <a:avLst/>
          </a:prstGeom>
          <a:solidFill>
            <a:srgbClr val="FFFFFF"/>
          </a:solidFill>
          <a:ln w="6350">
            <a:solidFill>
              <a:srgbClr val="D1D5DB"/>
            </a:solidFill>
            <a:prstDash val="solid"/>
          </a:ln>
        </p:spPr>
      </p:sp>
      <p:sp>
        <p:nvSpPr>
          <p:cNvPr id="60" name="Text 58"/>
          <p:cNvSpPr/>
          <p:nvPr/>
        </p:nvSpPr>
        <p:spPr>
          <a:xfrm>
            <a:off x="2907792" y="4626864"/>
            <a:ext cx="177393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Alg 2 Line 8</a:t>
            </a:r>
            <a:endParaRPr lang="en-US" sz="1100" dirty="0"/>
          </a:p>
        </p:txBody>
      </p:sp>
      <p:sp>
        <p:nvSpPr>
          <p:cNvPr id="61" name="Shape 59"/>
          <p:cNvSpPr/>
          <p:nvPr/>
        </p:nvSpPr>
        <p:spPr>
          <a:xfrm>
            <a:off x="4754880" y="4581144"/>
            <a:ext cx="4206240" cy="402336"/>
          </a:xfrm>
          <a:prstGeom prst="rect">
            <a:avLst/>
          </a:prstGeom>
          <a:solidFill>
            <a:srgbClr val="FFFFFF"/>
          </a:solidFill>
          <a:ln w="6350">
            <a:solidFill>
              <a:srgbClr val="D1D5DB"/>
            </a:solidFill>
            <a:prstDash val="solid"/>
          </a:ln>
        </p:spPr>
      </p:sp>
      <p:sp>
        <p:nvSpPr>
          <p:cNvPr id="62" name="Text 60"/>
          <p:cNvSpPr/>
          <p:nvPr/>
        </p:nvSpPr>
        <p:spPr>
          <a:xfrm>
            <a:off x="4828032" y="4626864"/>
            <a:ext cx="4059936" cy="310896"/>
          </a:xfrm>
          <a:prstGeom prst="rect">
            <a:avLst/>
          </a:prstGeom>
          <a:noFill/>
          <a:ln/>
        </p:spPr>
        <p:txBody>
          <a:bodyPr wrap="square" rtlCol="0" anchor="ctr"/>
          <a:lstStyle/>
          <a:p>
            <a:pPr indent="0" marL="0">
              <a:buNone/>
            </a:pPr>
            <a:r>
              <a:rPr lang="en-US" sz="1100" dirty="0">
                <a:solidFill>
                  <a:srgbClr val="111827"/>
                </a:solidFill>
                <a:latin typeface="Consolas" pitchFamily="34" charset="0"/>
                <a:ea typeface="Consolas" pitchFamily="34" charset="-122"/>
                <a:cs typeface="Consolas" pitchFamily="34" charset="-120"/>
              </a:rPr>
              <a:t>model.weights = (1−λ)*old + λ*new</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indent="0" marL="0">
              <a:buNone/>
            </a:pPr>
            <a:r>
              <a:rPr lang="en-US" sz="3600" b="1" dirty="0">
                <a:solidFill>
                  <a:srgbClr val="1E2761"/>
                </a:solidFill>
                <a:latin typeface="Calibri" pitchFamily="34" charset="0"/>
                <a:ea typeface="Calibri" pitchFamily="34" charset="-122"/>
                <a:cs typeface="Calibri" pitchFamily="34" charset="-120"/>
              </a:rPr>
              <a:t>Quick Test Results</a:t>
            </a:r>
            <a:endParaRPr lang="en-US" sz="3600" dirty="0"/>
          </a:p>
        </p:txBody>
      </p:sp>
      <p:sp>
        <p:nvSpPr>
          <p:cNvPr id="3" name="Text 1"/>
          <p:cNvSpPr/>
          <p:nvPr/>
        </p:nvSpPr>
        <p:spPr>
          <a:xfrm>
            <a:off x="457200" y="868680"/>
            <a:ext cx="8229600" cy="320040"/>
          </a:xfrm>
          <a:prstGeom prst="rect">
            <a:avLst/>
          </a:prstGeom>
          <a:noFill/>
          <a:ln/>
        </p:spPr>
        <p:txBody>
          <a:bodyPr wrap="square"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MNIST Binary Classification  ·  Digit 0 vs Others  ·  Single-machine simulation</a:t>
            </a:r>
            <a:endParaRPr lang="en-US" sz="1300" dirty="0"/>
          </a:p>
        </p:txBody>
      </p:sp>
      <p:sp>
        <p:nvSpPr>
          <p:cNvPr id="4" name="Shape 2"/>
          <p:cNvSpPr/>
          <p:nvPr/>
        </p:nvSpPr>
        <p:spPr>
          <a:xfrm>
            <a:off x="365760" y="1325880"/>
            <a:ext cx="1920240" cy="1371600"/>
          </a:xfrm>
          <a:prstGeom prst="rect">
            <a:avLst/>
          </a:prstGeom>
          <a:solidFill>
            <a:srgbClr val="1E2761"/>
          </a:solidFill>
          <a:ln w="12700">
            <a:solidFill>
              <a:srgbClr val="1E2761"/>
            </a:solidFill>
            <a:prstDash val="solid"/>
          </a:ln>
        </p:spPr>
      </p:sp>
      <p:sp>
        <p:nvSpPr>
          <p:cNvPr id="5" name="Text 3"/>
          <p:cNvSpPr/>
          <p:nvPr/>
        </p:nvSpPr>
        <p:spPr>
          <a:xfrm>
            <a:off x="365760" y="1417320"/>
            <a:ext cx="1920240"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98.50%</a:t>
            </a:r>
            <a:endParaRPr lang="en-US" sz="2800" dirty="0"/>
          </a:p>
        </p:txBody>
      </p:sp>
      <p:sp>
        <p:nvSpPr>
          <p:cNvPr id="6" name="Text 4"/>
          <p:cNvSpPr/>
          <p:nvPr/>
        </p:nvSpPr>
        <p:spPr>
          <a:xfrm>
            <a:off x="365760" y="2103120"/>
            <a:ext cx="1920240" cy="365760"/>
          </a:xfrm>
          <a:prstGeom prst="rect">
            <a:avLst/>
          </a:prstGeom>
          <a:noFill/>
          <a:ln/>
        </p:spPr>
        <p:txBody>
          <a:bodyPr wrap="square"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Test Accuracy</a:t>
            </a:r>
            <a:endParaRPr lang="en-US" sz="1200" dirty="0"/>
          </a:p>
        </p:txBody>
      </p:sp>
      <p:sp>
        <p:nvSpPr>
          <p:cNvPr id="7" name="Shape 5"/>
          <p:cNvSpPr/>
          <p:nvPr/>
        </p:nvSpPr>
        <p:spPr>
          <a:xfrm>
            <a:off x="2468880" y="1325880"/>
            <a:ext cx="1920240" cy="1371600"/>
          </a:xfrm>
          <a:prstGeom prst="rect">
            <a:avLst/>
          </a:prstGeom>
          <a:solidFill>
            <a:srgbClr val="1E2761"/>
          </a:solidFill>
          <a:ln w="12700">
            <a:solidFill>
              <a:srgbClr val="1E2761"/>
            </a:solidFill>
            <a:prstDash val="solid"/>
          </a:ln>
        </p:spPr>
      </p:sp>
      <p:sp>
        <p:nvSpPr>
          <p:cNvPr id="8" name="Text 6"/>
          <p:cNvSpPr/>
          <p:nvPr/>
        </p:nvSpPr>
        <p:spPr>
          <a:xfrm>
            <a:off x="2468880" y="1417320"/>
            <a:ext cx="1920240"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98.68%</a:t>
            </a:r>
            <a:endParaRPr lang="en-US" sz="2800" dirty="0"/>
          </a:p>
        </p:txBody>
      </p:sp>
      <p:sp>
        <p:nvSpPr>
          <p:cNvPr id="9" name="Text 7"/>
          <p:cNvSpPr/>
          <p:nvPr/>
        </p:nvSpPr>
        <p:spPr>
          <a:xfrm>
            <a:off x="2468880" y="2103120"/>
            <a:ext cx="1920240" cy="365760"/>
          </a:xfrm>
          <a:prstGeom prst="rect">
            <a:avLst/>
          </a:prstGeom>
          <a:noFill/>
          <a:ln/>
        </p:spPr>
        <p:txBody>
          <a:bodyPr wrap="square"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ROC-AUC</a:t>
            </a:r>
            <a:endParaRPr lang="en-US" sz="1200" dirty="0"/>
          </a:p>
        </p:txBody>
      </p:sp>
      <p:sp>
        <p:nvSpPr>
          <p:cNvPr id="10" name="Shape 8"/>
          <p:cNvSpPr/>
          <p:nvPr/>
        </p:nvSpPr>
        <p:spPr>
          <a:xfrm>
            <a:off x="4572000" y="1325880"/>
            <a:ext cx="1920240" cy="1371600"/>
          </a:xfrm>
          <a:prstGeom prst="rect">
            <a:avLst/>
          </a:prstGeom>
          <a:solidFill>
            <a:srgbClr val="1E2761"/>
          </a:solidFill>
          <a:ln w="12700">
            <a:solidFill>
              <a:srgbClr val="1E2761"/>
            </a:solidFill>
            <a:prstDash val="solid"/>
          </a:ln>
        </p:spPr>
      </p:sp>
      <p:sp>
        <p:nvSpPr>
          <p:cNvPr id="11" name="Text 9"/>
          <p:cNvSpPr/>
          <p:nvPr/>
        </p:nvSpPr>
        <p:spPr>
          <a:xfrm>
            <a:off x="4572000" y="1417320"/>
            <a:ext cx="1920240"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92.35%</a:t>
            </a:r>
            <a:endParaRPr lang="en-US" sz="2800" dirty="0"/>
          </a:p>
        </p:txBody>
      </p:sp>
      <p:sp>
        <p:nvSpPr>
          <p:cNvPr id="12" name="Text 10"/>
          <p:cNvSpPr/>
          <p:nvPr/>
        </p:nvSpPr>
        <p:spPr>
          <a:xfrm>
            <a:off x="4572000" y="2103120"/>
            <a:ext cx="1920240" cy="365760"/>
          </a:xfrm>
          <a:prstGeom prst="rect">
            <a:avLst/>
          </a:prstGeom>
          <a:noFill/>
          <a:ln/>
        </p:spPr>
        <p:txBody>
          <a:bodyPr wrap="square"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F1-Score</a:t>
            </a:r>
            <a:endParaRPr lang="en-US" sz="1200" dirty="0"/>
          </a:p>
        </p:txBody>
      </p:sp>
      <p:sp>
        <p:nvSpPr>
          <p:cNvPr id="13" name="Shape 11"/>
          <p:cNvSpPr/>
          <p:nvPr/>
        </p:nvSpPr>
        <p:spPr>
          <a:xfrm>
            <a:off x="6675120" y="1325880"/>
            <a:ext cx="1920240" cy="1371600"/>
          </a:xfrm>
          <a:prstGeom prst="rect">
            <a:avLst/>
          </a:prstGeom>
          <a:solidFill>
            <a:srgbClr val="1E2761"/>
          </a:solidFill>
          <a:ln w="12700">
            <a:solidFill>
              <a:srgbClr val="1E2761"/>
            </a:solidFill>
            <a:prstDash val="solid"/>
          </a:ln>
        </p:spPr>
      </p:sp>
      <p:sp>
        <p:nvSpPr>
          <p:cNvPr id="14" name="Text 12"/>
          <p:cNvSpPr/>
          <p:nvPr/>
        </p:nvSpPr>
        <p:spPr>
          <a:xfrm>
            <a:off x="6675120" y="1417320"/>
            <a:ext cx="1920240"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7.0s</a:t>
            </a:r>
            <a:endParaRPr lang="en-US" sz="2800" dirty="0"/>
          </a:p>
        </p:txBody>
      </p:sp>
      <p:sp>
        <p:nvSpPr>
          <p:cNvPr id="15" name="Text 13"/>
          <p:cNvSpPr/>
          <p:nvPr/>
        </p:nvSpPr>
        <p:spPr>
          <a:xfrm>
            <a:off x="6675120" y="2103120"/>
            <a:ext cx="1920240" cy="365760"/>
          </a:xfrm>
          <a:prstGeom prst="rect">
            <a:avLst/>
          </a:prstGeom>
          <a:noFill/>
          <a:ln/>
        </p:spPr>
        <p:txBody>
          <a:bodyPr wrap="square"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Training Time</a:t>
            </a:r>
            <a:endParaRPr lang="en-US" sz="1200" dirty="0"/>
          </a:p>
        </p:txBody>
      </p:sp>
      <p:sp>
        <p:nvSpPr>
          <p:cNvPr id="16" name="Shape 14"/>
          <p:cNvSpPr/>
          <p:nvPr/>
        </p:nvSpPr>
        <p:spPr>
          <a:xfrm>
            <a:off x="365760" y="2834640"/>
            <a:ext cx="4572000" cy="1645920"/>
          </a:xfrm>
          <a:prstGeom prst="rect">
            <a:avLst/>
          </a:prstGeom>
          <a:solidFill>
            <a:srgbClr val="F0F4FF"/>
          </a:solidFill>
          <a:ln w="19050">
            <a:solidFill>
              <a:srgbClr val="3B82F6"/>
            </a:solidFill>
            <a:prstDash val="solid"/>
          </a:ln>
        </p:spPr>
      </p:sp>
      <p:sp>
        <p:nvSpPr>
          <p:cNvPr id="17" name="Text 15"/>
          <p:cNvSpPr/>
          <p:nvPr/>
        </p:nvSpPr>
        <p:spPr>
          <a:xfrm>
            <a:off x="502920" y="2926080"/>
            <a:ext cx="429768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Parameters Used</a:t>
            </a:r>
            <a:endParaRPr lang="en-US" sz="1400" dirty="0"/>
          </a:p>
        </p:txBody>
      </p:sp>
      <p:sp>
        <p:nvSpPr>
          <p:cNvPr id="18" name="Text 16"/>
          <p:cNvSpPr/>
          <p:nvPr/>
        </p:nvSpPr>
        <p:spPr>
          <a:xfrm>
            <a:off x="502920" y="3337560"/>
            <a:ext cx="4297680" cy="1051560"/>
          </a:xfrm>
          <a:prstGeom prst="rect">
            <a:avLst/>
          </a:prstGeom>
          <a:noFill/>
          <a:ln/>
        </p:spPr>
        <p:txBody>
          <a:bodyPr wrap="square" rtlCol="0" anchor="ctr"/>
          <a:lstStyle/>
          <a:p>
            <a:pPr marL="342900" indent="-342900">
              <a:spcAft>
                <a:spcPts val="400"/>
              </a:spcAft>
              <a:buSzPct val="100000"/>
              <a:buChar char="•"/>
            </a:pPr>
            <a:r>
              <a:rPr lang="en-US" sz="1300" dirty="0">
                <a:solidFill>
                  <a:srgbClr val="111827"/>
                </a:solidFill>
                <a:latin typeface="Calibri" pitchFamily="34" charset="0"/>
                <a:ea typeface="Calibri" pitchFamily="34" charset="-122"/>
                <a:cs typeface="Calibri" pitchFamily="34" charset="-120"/>
              </a:rPr>
              <a:t>C = 1.0  (regularization)</a:t>
            </a:r>
            <a:endParaRPr lang="en-US" sz="1300" dirty="0"/>
          </a:p>
          <a:p>
            <a:pPr marL="342900" indent="-342900">
              <a:spcAft>
                <a:spcPts val="400"/>
              </a:spcAft>
              <a:buSzPct val="100000"/>
              <a:buChar char="•"/>
            </a:pPr>
            <a:r>
              <a:rPr lang="en-US" sz="1300" dirty="0">
                <a:solidFill>
                  <a:srgbClr val="111827"/>
                </a:solidFill>
                <a:latin typeface="Calibri" pitchFamily="34" charset="0"/>
                <a:ea typeface="Calibri" pitchFamily="34" charset="-122"/>
                <a:cs typeface="Calibri" pitchFamily="34" charset="-120"/>
              </a:rPr>
              <a:t>σ = 1.0  (RBF kernel)</a:t>
            </a:r>
            <a:endParaRPr lang="en-US" sz="1300" dirty="0"/>
          </a:p>
          <a:p>
            <a:pPr marL="342900" indent="-342900">
              <a:spcAft>
                <a:spcPts val="400"/>
              </a:spcAft>
              <a:buSzPct val="100000"/>
              <a:buChar char="•"/>
            </a:pPr>
            <a:r>
              <a:rPr lang="en-US" sz="1300" dirty="0">
                <a:solidFill>
                  <a:srgbClr val="111827"/>
                </a:solidFill>
                <a:latin typeface="Calibri" pitchFamily="34" charset="0"/>
                <a:ea typeface="Calibri" pitchFamily="34" charset="-122"/>
                <a:cs typeface="Calibri" pitchFamily="34" charset="-120"/>
              </a:rPr>
              <a:t>NC = 50  (budget vectors / centroids)</a:t>
            </a:r>
            <a:endParaRPr lang="en-US" sz="1300" dirty="0"/>
          </a:p>
          <a:p>
            <a:pPr marL="342900" indent="-342900">
              <a:spcAft>
                <a:spcPts val="400"/>
              </a:spcAft>
              <a:buSzPct val="100000"/>
              <a:buChar char="•"/>
            </a:pPr>
            <a:r>
              <a:rPr lang="en-US" sz="1300" dirty="0">
                <a:solidFill>
                  <a:srgbClr val="111827"/>
                </a:solidFill>
                <a:latin typeface="Calibri" pitchFamily="34" charset="0"/>
                <a:ea typeface="Calibri" pitchFamily="34" charset="-122"/>
                <a:cs typeface="Calibri" pitchFamily="34" charset="-120"/>
              </a:rPr>
              <a:t>Nmaxiter = 5  (IRWLS iterations)</a:t>
            </a:r>
            <a:endParaRPr lang="en-US" sz="1300" dirty="0"/>
          </a:p>
        </p:txBody>
      </p:sp>
      <p:sp>
        <p:nvSpPr>
          <p:cNvPr id="19" name="Shape 17"/>
          <p:cNvSpPr/>
          <p:nvPr/>
        </p:nvSpPr>
        <p:spPr>
          <a:xfrm>
            <a:off x="5212080" y="2834640"/>
            <a:ext cx="3474720" cy="1645920"/>
          </a:xfrm>
          <a:prstGeom prst="rect">
            <a:avLst/>
          </a:prstGeom>
          <a:solidFill>
            <a:srgbClr val="FFF8E1"/>
          </a:solidFill>
          <a:ln w="19050">
            <a:solidFill>
              <a:srgbClr val="F59E0B"/>
            </a:solidFill>
            <a:prstDash val="solid"/>
          </a:ln>
        </p:spPr>
      </p:sp>
      <p:sp>
        <p:nvSpPr>
          <p:cNvPr id="20" name="Text 18"/>
          <p:cNvSpPr/>
          <p:nvPr/>
        </p:nvSpPr>
        <p:spPr>
          <a:xfrm>
            <a:off x="5349240" y="2926080"/>
            <a:ext cx="3200400" cy="365760"/>
          </a:xfrm>
          <a:prstGeom prst="rect">
            <a:avLst/>
          </a:prstGeom>
          <a:noFill/>
          <a:ln/>
        </p:spPr>
        <p:txBody>
          <a:bodyPr wrap="square"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Note</a:t>
            </a:r>
            <a:endParaRPr lang="en-US" sz="1400" dirty="0"/>
          </a:p>
        </p:txBody>
      </p:sp>
      <p:sp>
        <p:nvSpPr>
          <p:cNvPr id="21" name="Text 19"/>
          <p:cNvSpPr/>
          <p:nvPr/>
        </p:nvSpPr>
        <p:spPr>
          <a:xfrm>
            <a:off x="5349240" y="3337560"/>
            <a:ext cx="3200400" cy="1051560"/>
          </a:xfrm>
          <a:prstGeom prst="rect">
            <a:avLst/>
          </a:prstGeom>
          <a:noFill/>
          <a:ln/>
        </p:spPr>
        <p:txBody>
          <a:bodyPr wrap="square" rtlCol="0" anchor="ctr"/>
          <a:lstStyle/>
          <a:p>
            <a:pPr indent="0" marL="0">
              <a:buNone/>
            </a:pPr>
            <a:r>
              <a:rPr lang="en-US" sz="1200" dirty="0">
                <a:solidFill>
                  <a:srgbClr val="111827"/>
                </a:solidFill>
                <a:latin typeface="Calibri" pitchFamily="34" charset="0"/>
                <a:ea typeface="Calibri" pitchFamily="34" charset="-122"/>
                <a:cs typeface="Calibri" pitchFamily="34" charset="-120"/>
              </a:rPr>
              <a:t>This is a single-machine simulation to verify algorithm correctness. True distributed test requires MMLL's Comms layer with multiple worker processes.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indent="0" marL="0">
              <a:buNone/>
            </a:pPr>
            <a:r>
              <a:rPr lang="en-US" sz="3600" b="1" dirty="0">
                <a:solidFill>
                  <a:srgbClr val="1E2761"/>
                </a:solidFill>
                <a:latin typeface="Calibri" pitchFamily="34" charset="0"/>
                <a:ea typeface="Calibri" pitchFamily="34" charset="-122"/>
                <a:cs typeface="Calibri" pitchFamily="34" charset="-120"/>
              </a:rPr>
              <a:t>What I Still Need to Clarify</a:t>
            </a:r>
            <a:endParaRPr lang="en-US" sz="3600" dirty="0"/>
          </a:p>
        </p:txBody>
      </p:sp>
      <p:sp>
        <p:nvSpPr>
          <p:cNvPr id="3" name="Shape 1"/>
          <p:cNvSpPr/>
          <p:nvPr/>
        </p:nvSpPr>
        <p:spPr>
          <a:xfrm>
            <a:off x="365760" y="1005840"/>
            <a:ext cx="109728" cy="777240"/>
          </a:xfrm>
          <a:prstGeom prst="rect">
            <a:avLst/>
          </a:prstGeom>
          <a:solidFill>
            <a:srgbClr val="10B981"/>
          </a:solidFill>
          <a:ln w="12700">
            <a:solidFill>
              <a:srgbClr val="10B981"/>
            </a:solidFill>
            <a:prstDash val="solid"/>
          </a:ln>
        </p:spPr>
      </p:sp>
      <p:sp>
        <p:nvSpPr>
          <p:cNvPr id="4" name="Shape 2"/>
          <p:cNvSpPr/>
          <p:nvPr/>
        </p:nvSpPr>
        <p:spPr>
          <a:xfrm>
            <a:off x="530352" y="1005840"/>
            <a:ext cx="8229600" cy="777240"/>
          </a:xfrm>
          <a:prstGeom prst="rect">
            <a:avLst/>
          </a:prstGeom>
          <a:solidFill>
            <a:srgbClr val="F0F4FF"/>
          </a:solidFill>
          <a:ln w="6350">
            <a:solidFill>
              <a:srgbClr val="E5E7EB"/>
            </a:solidFill>
            <a:prstDash val="solid"/>
          </a:ln>
        </p:spPr>
      </p:sp>
      <p:sp>
        <p:nvSpPr>
          <p:cNvPr id="5" name="Text 3"/>
          <p:cNvSpPr/>
          <p:nvPr/>
        </p:nvSpPr>
        <p:spPr>
          <a:xfrm>
            <a:off x="658368" y="1051560"/>
            <a:ext cx="795528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 FL Framework — CONFIRMED</a:t>
            </a:r>
            <a:endParaRPr lang="en-US" sz="1400" dirty="0"/>
          </a:p>
        </p:txBody>
      </p:sp>
      <p:sp>
        <p:nvSpPr>
          <p:cNvPr id="6" name="Text 4"/>
          <p:cNvSpPr/>
          <p:nvPr/>
        </p:nvSpPr>
        <p:spPr>
          <a:xfrm>
            <a:off x="658368" y="1389888"/>
            <a:ext cx="7955280" cy="347472"/>
          </a:xfrm>
          <a:prstGeom prst="rect">
            <a:avLst/>
          </a:prstGeom>
          <a:noFill/>
          <a:ln/>
        </p:spPr>
        <p:txBody>
          <a:bodyPr wrap="square" rtlCol="0" anchor="ctr"/>
          <a:lstStyle/>
          <a:p>
            <a:pPr indent="0" marL="0">
              <a:buNone/>
            </a:pPr>
            <a:r>
              <a:rPr lang="en-US" sz="1200" dirty="0">
                <a:solidFill>
                  <a:srgbClr val="111827"/>
                </a:solidFill>
                <a:latin typeface="Calibri" pitchFamily="34" charset="0"/>
                <a:ea typeface="Calibri" pitchFamily="34" charset="-122"/>
                <a:cs typeface="Calibri" pitchFamily="34" charset="-120"/>
              </a:rPr>
              <a:t>MMLL uses its own POM1 framework. Govind confirmed BDSVM is Primal. Paper deliberately avoids Dual space due to high complexity and quadratic programming cost.</a:t>
            </a:r>
            <a:endParaRPr lang="en-US" sz="1200" dirty="0"/>
          </a:p>
        </p:txBody>
      </p:sp>
      <p:sp>
        <p:nvSpPr>
          <p:cNvPr id="7" name="Shape 5"/>
          <p:cNvSpPr/>
          <p:nvPr/>
        </p:nvSpPr>
        <p:spPr>
          <a:xfrm>
            <a:off x="365760" y="1993392"/>
            <a:ext cx="109728" cy="777240"/>
          </a:xfrm>
          <a:prstGeom prst="rect">
            <a:avLst/>
          </a:prstGeom>
          <a:solidFill>
            <a:srgbClr val="3B82F6"/>
          </a:solidFill>
          <a:ln w="12700">
            <a:solidFill>
              <a:srgbClr val="3B82F6"/>
            </a:solidFill>
            <a:prstDash val="solid"/>
          </a:ln>
        </p:spPr>
      </p:sp>
      <p:sp>
        <p:nvSpPr>
          <p:cNvPr id="8" name="Shape 6"/>
          <p:cNvSpPr/>
          <p:nvPr/>
        </p:nvSpPr>
        <p:spPr>
          <a:xfrm>
            <a:off x="530352" y="1993392"/>
            <a:ext cx="8229600" cy="777240"/>
          </a:xfrm>
          <a:prstGeom prst="rect">
            <a:avLst/>
          </a:prstGeom>
          <a:solidFill>
            <a:srgbClr val="F0F4FF"/>
          </a:solidFill>
          <a:ln w="6350">
            <a:solidFill>
              <a:srgbClr val="E5E7EB"/>
            </a:solidFill>
            <a:prstDash val="solid"/>
          </a:ln>
        </p:spPr>
      </p:sp>
      <p:sp>
        <p:nvSpPr>
          <p:cNvPr id="9" name="Text 7"/>
          <p:cNvSpPr/>
          <p:nvPr/>
        </p:nvSpPr>
        <p:spPr>
          <a:xfrm>
            <a:off x="658368" y="2039112"/>
            <a:ext cx="795528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 Real distributed execution</a:t>
            </a:r>
            <a:endParaRPr lang="en-US" sz="1400" dirty="0"/>
          </a:p>
        </p:txBody>
      </p:sp>
      <p:sp>
        <p:nvSpPr>
          <p:cNvPr id="10" name="Text 8"/>
          <p:cNvSpPr/>
          <p:nvPr/>
        </p:nvSpPr>
        <p:spPr>
          <a:xfrm>
            <a:off x="658368" y="2377440"/>
            <a:ext cx="7955280" cy="347472"/>
          </a:xfrm>
          <a:prstGeom prst="rect">
            <a:avLst/>
          </a:prstGeom>
          <a:noFill/>
          <a:ln/>
        </p:spPr>
        <p:txBody>
          <a:bodyPr wrap="square" rtlCol="0" anchor="ctr"/>
          <a:lstStyle/>
          <a:p>
            <a:pPr indent="0" marL="0">
              <a:buNone/>
            </a:pPr>
            <a:r>
              <a:rPr lang="en-US" sz="1200" dirty="0">
                <a:solidFill>
                  <a:srgbClr val="111827"/>
                </a:solidFill>
                <a:latin typeface="Calibri" pitchFamily="34" charset="0"/>
                <a:ea typeface="Calibri" pitchFamily="34" charset="-122"/>
                <a:cs typeface="Calibri" pitchFamily="34" charset="-120"/>
              </a:rPr>
              <a:t>How does the MMLL Comms object work in practice? What is needed to run DSVM.py with real worker processes across multiple machines?</a:t>
            </a:r>
            <a:endParaRPr lang="en-US" sz="1200" dirty="0"/>
          </a:p>
        </p:txBody>
      </p:sp>
      <p:sp>
        <p:nvSpPr>
          <p:cNvPr id="11" name="Shape 9"/>
          <p:cNvSpPr/>
          <p:nvPr/>
        </p:nvSpPr>
        <p:spPr>
          <a:xfrm>
            <a:off x="365760" y="2980944"/>
            <a:ext cx="109728" cy="777240"/>
          </a:xfrm>
          <a:prstGeom prst="rect">
            <a:avLst/>
          </a:prstGeom>
          <a:solidFill>
            <a:srgbClr val="F59E0B"/>
          </a:solidFill>
          <a:ln w="12700">
            <a:solidFill>
              <a:srgbClr val="F59E0B"/>
            </a:solidFill>
            <a:prstDash val="solid"/>
          </a:ln>
        </p:spPr>
      </p:sp>
      <p:sp>
        <p:nvSpPr>
          <p:cNvPr id="12" name="Shape 10"/>
          <p:cNvSpPr/>
          <p:nvPr/>
        </p:nvSpPr>
        <p:spPr>
          <a:xfrm>
            <a:off x="530352" y="2980944"/>
            <a:ext cx="8229600" cy="777240"/>
          </a:xfrm>
          <a:prstGeom prst="rect">
            <a:avLst/>
          </a:prstGeom>
          <a:solidFill>
            <a:srgbClr val="F0F4FF"/>
          </a:solidFill>
          <a:ln w="6350">
            <a:solidFill>
              <a:srgbClr val="E5E7EB"/>
            </a:solidFill>
            <a:prstDash val="solid"/>
          </a:ln>
        </p:spPr>
      </p:sp>
      <p:sp>
        <p:nvSpPr>
          <p:cNvPr id="13" name="Text 11"/>
          <p:cNvSpPr/>
          <p:nvPr/>
        </p:nvSpPr>
        <p:spPr>
          <a:xfrm>
            <a:off x="658368" y="3026664"/>
            <a:ext cx="795528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 Parallel vs Gossip / Sync vs Async</a:t>
            </a:r>
            <a:endParaRPr lang="en-US" sz="1400" dirty="0"/>
          </a:p>
        </p:txBody>
      </p:sp>
      <p:sp>
        <p:nvSpPr>
          <p:cNvPr id="14" name="Text 12"/>
          <p:cNvSpPr/>
          <p:nvPr/>
        </p:nvSpPr>
        <p:spPr>
          <a:xfrm>
            <a:off x="658368" y="3364992"/>
            <a:ext cx="7955280" cy="347472"/>
          </a:xfrm>
          <a:prstGeom prst="rect">
            <a:avLst/>
          </a:prstGeom>
          <a:noFill/>
          <a:ln/>
        </p:spPr>
        <p:txBody>
          <a:bodyPr wrap="square" rtlCol="0" anchor="ctr"/>
          <a:lstStyle/>
          <a:p>
            <a:pPr indent="0" marL="0">
              <a:buNone/>
            </a:pPr>
            <a:r>
              <a:rPr lang="en-US" sz="1200" dirty="0">
                <a:solidFill>
                  <a:srgbClr val="111827"/>
                </a:solidFill>
                <a:latin typeface="Calibri" pitchFamily="34" charset="0"/>
                <a:ea typeface="Calibri" pitchFamily="34" charset="-122"/>
                <a:cs typeface="Calibri" pitchFamily="34" charset="-120"/>
              </a:rPr>
              <a:t>Current BDSVM uses synchronous Master-Worker (parallel). How does this compare to Gossip-based or asynchronous FL like COCOA/COCOA+?</a:t>
            </a:r>
            <a:endParaRPr lang="en-US" sz="1200" dirty="0"/>
          </a:p>
        </p:txBody>
      </p:sp>
      <p:sp>
        <p:nvSpPr>
          <p:cNvPr id="15" name="Shape 13"/>
          <p:cNvSpPr/>
          <p:nvPr/>
        </p:nvSpPr>
        <p:spPr>
          <a:xfrm>
            <a:off x="365760" y="3968496"/>
            <a:ext cx="109728" cy="777240"/>
          </a:xfrm>
          <a:prstGeom prst="rect">
            <a:avLst/>
          </a:prstGeom>
          <a:solidFill>
            <a:srgbClr val="6B7280"/>
          </a:solidFill>
          <a:ln w="12700">
            <a:solidFill>
              <a:srgbClr val="6B7280"/>
            </a:solidFill>
            <a:prstDash val="solid"/>
          </a:ln>
        </p:spPr>
      </p:sp>
      <p:sp>
        <p:nvSpPr>
          <p:cNvPr id="16" name="Shape 14"/>
          <p:cNvSpPr/>
          <p:nvPr/>
        </p:nvSpPr>
        <p:spPr>
          <a:xfrm>
            <a:off x="530352" y="3968496"/>
            <a:ext cx="8229600" cy="777240"/>
          </a:xfrm>
          <a:prstGeom prst="rect">
            <a:avLst/>
          </a:prstGeom>
          <a:solidFill>
            <a:srgbClr val="F0F4FF"/>
          </a:solidFill>
          <a:ln w="6350">
            <a:solidFill>
              <a:srgbClr val="E5E7EB"/>
            </a:solidFill>
            <a:prstDash val="solid"/>
          </a:ln>
        </p:spPr>
      </p:sp>
      <p:sp>
        <p:nvSpPr>
          <p:cNvPr id="17" name="Text 15"/>
          <p:cNvSpPr/>
          <p:nvPr/>
        </p:nvSpPr>
        <p:spPr>
          <a:xfrm>
            <a:off x="658368" y="4014216"/>
            <a:ext cx="795528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 Benchmark comparison</a:t>
            </a:r>
            <a:endParaRPr lang="en-US" sz="1400" dirty="0"/>
          </a:p>
        </p:txBody>
      </p:sp>
      <p:sp>
        <p:nvSpPr>
          <p:cNvPr id="18" name="Text 16"/>
          <p:cNvSpPr/>
          <p:nvPr/>
        </p:nvSpPr>
        <p:spPr>
          <a:xfrm>
            <a:off x="658368" y="4352544"/>
            <a:ext cx="7955280" cy="347472"/>
          </a:xfrm>
          <a:prstGeom prst="rect">
            <a:avLst/>
          </a:prstGeom>
          <a:noFill/>
          <a:ln/>
        </p:spPr>
        <p:txBody>
          <a:bodyPr wrap="square" rtlCol="0" anchor="ctr"/>
          <a:lstStyle/>
          <a:p>
            <a:pPr indent="0" marL="0">
              <a:buNone/>
            </a:pPr>
            <a:r>
              <a:rPr lang="en-US" sz="1200" dirty="0">
                <a:solidFill>
                  <a:srgbClr val="111827"/>
                </a:solidFill>
                <a:latin typeface="Calibri" pitchFamily="34" charset="0"/>
                <a:ea typeface="Calibri" pitchFamily="34" charset="-122"/>
                <a:cs typeface="Calibri" pitchFamily="34" charset="-120"/>
              </a:rPr>
              <a:t>Need to run BDSVM on SDCA datasets (astro-ph, cov1, CCAT) and compare against FDR-SVM, Over-the-Air FL, FedSSL-AMC for the paper.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65760"/>
            <a:ext cx="8046720" cy="68580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Next Steps</a:t>
            </a:r>
            <a:endParaRPr lang="en-US" sz="4000" dirty="0"/>
          </a:p>
        </p:txBody>
      </p:sp>
      <p:sp>
        <p:nvSpPr>
          <p:cNvPr id="3" name="Shape 1"/>
          <p:cNvSpPr/>
          <p:nvPr/>
        </p:nvSpPr>
        <p:spPr>
          <a:xfrm>
            <a:off x="365760" y="1188720"/>
            <a:ext cx="2743200" cy="411480"/>
          </a:xfrm>
          <a:prstGeom prst="rect">
            <a:avLst/>
          </a:prstGeom>
          <a:solidFill>
            <a:srgbClr val="3B82F6"/>
          </a:solidFill>
          <a:ln w="12700">
            <a:solidFill>
              <a:srgbClr val="3B82F6"/>
            </a:solidFill>
            <a:prstDash val="solid"/>
          </a:ln>
        </p:spPr>
      </p:sp>
      <p:sp>
        <p:nvSpPr>
          <p:cNvPr id="4" name="Text 2"/>
          <p:cNvSpPr/>
          <p:nvPr/>
        </p:nvSpPr>
        <p:spPr>
          <a:xfrm>
            <a:off x="365760" y="1188720"/>
            <a:ext cx="2743200" cy="411480"/>
          </a:xfrm>
          <a:prstGeom prst="rect">
            <a:avLst/>
          </a:prstGeom>
          <a:noFill/>
          <a:ln/>
        </p:spPr>
        <p:txBody>
          <a:bodyPr wrap="square" rtlCol="0" anchor="ctr"/>
          <a:lstStyle/>
          <a:p>
            <a:pPr algn="ctr" indent="0" marL="0">
              <a:buNone/>
            </a:pPr>
            <a:r>
              <a:rPr lang="en-US" sz="1500" b="1" dirty="0">
                <a:solidFill>
                  <a:srgbClr val="111827"/>
                </a:solidFill>
                <a:latin typeface="Calibri" pitchFamily="34" charset="0"/>
                <a:ea typeface="Calibri" pitchFamily="34" charset="-122"/>
                <a:cs typeface="Calibri" pitchFamily="34" charset="-120"/>
              </a:rPr>
              <a:t>This Week (May 22)</a:t>
            </a:r>
            <a:endParaRPr lang="en-US" sz="1500" dirty="0"/>
          </a:p>
        </p:txBody>
      </p:sp>
      <p:sp>
        <p:nvSpPr>
          <p:cNvPr id="5" name="Shape 3"/>
          <p:cNvSpPr/>
          <p:nvPr/>
        </p:nvSpPr>
        <p:spPr>
          <a:xfrm>
            <a:off x="365760" y="1600200"/>
            <a:ext cx="2743200" cy="3200400"/>
          </a:xfrm>
          <a:prstGeom prst="rect">
            <a:avLst/>
          </a:prstGeom>
          <a:solidFill>
            <a:srgbClr val="1E3A5F"/>
          </a:solidFill>
          <a:ln w="12700">
            <a:solidFill>
              <a:srgbClr val="3B82F6"/>
            </a:solidFill>
            <a:prstDash val="solid"/>
          </a:ln>
        </p:spPr>
      </p:sp>
      <p:sp>
        <p:nvSpPr>
          <p:cNvPr id="6" name="Text 4"/>
          <p:cNvSpPr/>
          <p:nvPr/>
        </p:nvSpPr>
        <p:spPr>
          <a:xfrm>
            <a:off x="457200" y="1691640"/>
            <a:ext cx="2560320" cy="3017520"/>
          </a:xfrm>
          <a:prstGeom prst="rect">
            <a:avLst/>
          </a:prstGeom>
          <a:noFill/>
          <a:ln/>
        </p:spPr>
        <p:txBody>
          <a:bodyPr wrap="square" rtlCol="0" anchor="ctr"/>
          <a:lstStyle/>
          <a:p>
            <a:pPr marL="342900" indent="-342900">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 Primal confirmed (Govind, May 22)</a:t>
            </a:r>
            <a:endParaRPr lang="en-US" sz="1250" dirty="0"/>
          </a:p>
          <a:p>
            <a:pPr marL="342900" indent="-342900">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 FL Framework: MMLL POM1</a:t>
            </a:r>
            <a:endParaRPr lang="en-US" sz="1250" dirty="0"/>
          </a:p>
          <a:p>
            <a:pPr marL="342900" indent="-342900">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Finish paper: Convergence + Experiments</a:t>
            </a:r>
            <a:endParaRPr lang="en-US" sz="1250" dirty="0"/>
          </a:p>
          <a:p>
            <a:pPr marL="342900" indent="-342900">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Meeting today 9am — present findings</a:t>
            </a:r>
            <a:endParaRPr lang="en-US" sz="1250" dirty="0"/>
          </a:p>
        </p:txBody>
      </p:sp>
      <p:sp>
        <p:nvSpPr>
          <p:cNvPr id="7" name="Shape 5"/>
          <p:cNvSpPr/>
          <p:nvPr/>
        </p:nvSpPr>
        <p:spPr>
          <a:xfrm>
            <a:off x="3246120" y="1188720"/>
            <a:ext cx="2743200" cy="411480"/>
          </a:xfrm>
          <a:prstGeom prst="rect">
            <a:avLst/>
          </a:prstGeom>
          <a:solidFill>
            <a:srgbClr val="10B981"/>
          </a:solidFill>
          <a:ln w="12700">
            <a:solidFill>
              <a:srgbClr val="10B981"/>
            </a:solidFill>
            <a:prstDash val="solid"/>
          </a:ln>
        </p:spPr>
      </p:sp>
      <p:sp>
        <p:nvSpPr>
          <p:cNvPr id="8" name="Text 6"/>
          <p:cNvSpPr/>
          <p:nvPr/>
        </p:nvSpPr>
        <p:spPr>
          <a:xfrm>
            <a:off x="3246120" y="1188720"/>
            <a:ext cx="2743200" cy="411480"/>
          </a:xfrm>
          <a:prstGeom prst="rect">
            <a:avLst/>
          </a:prstGeom>
          <a:noFill/>
          <a:ln/>
        </p:spPr>
        <p:txBody>
          <a:bodyPr wrap="square" rtlCol="0" anchor="ctr"/>
          <a:lstStyle/>
          <a:p>
            <a:pPr algn="ctr" indent="0" marL="0">
              <a:buNone/>
            </a:pPr>
            <a:r>
              <a:rPr lang="en-US" sz="1500" b="1" dirty="0">
                <a:solidFill>
                  <a:srgbClr val="111827"/>
                </a:solidFill>
                <a:latin typeface="Calibri" pitchFamily="34" charset="0"/>
                <a:ea typeface="Calibri" pitchFamily="34" charset="-122"/>
                <a:cs typeface="Calibri" pitchFamily="34" charset="-120"/>
              </a:rPr>
              <a:t>Next Week</a:t>
            </a:r>
            <a:endParaRPr lang="en-US" sz="1500" dirty="0"/>
          </a:p>
        </p:txBody>
      </p:sp>
      <p:sp>
        <p:nvSpPr>
          <p:cNvPr id="9" name="Shape 7"/>
          <p:cNvSpPr/>
          <p:nvPr/>
        </p:nvSpPr>
        <p:spPr>
          <a:xfrm>
            <a:off x="3246120" y="1600200"/>
            <a:ext cx="2743200" cy="3200400"/>
          </a:xfrm>
          <a:prstGeom prst="rect">
            <a:avLst/>
          </a:prstGeom>
          <a:solidFill>
            <a:srgbClr val="1E3A5F"/>
          </a:solidFill>
          <a:ln w="12700">
            <a:solidFill>
              <a:srgbClr val="10B981"/>
            </a:solidFill>
            <a:prstDash val="solid"/>
          </a:ln>
        </p:spPr>
      </p:sp>
      <p:sp>
        <p:nvSpPr>
          <p:cNvPr id="10" name="Text 8"/>
          <p:cNvSpPr/>
          <p:nvPr/>
        </p:nvSpPr>
        <p:spPr>
          <a:xfrm>
            <a:off x="3337560" y="1691640"/>
            <a:ext cx="2560320" cy="3017520"/>
          </a:xfrm>
          <a:prstGeom prst="rect">
            <a:avLst/>
          </a:prstGeom>
          <a:noFill/>
          <a:ln/>
        </p:spPr>
        <p:txBody>
          <a:bodyPr wrap="square" rtlCol="0" anchor="ctr"/>
          <a:lstStyle/>
          <a:p>
            <a:pPr marL="342900" indent="-342900">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Test on SDCA benchmarks (astro-ph, cov1, CCAT)</a:t>
            </a:r>
            <a:endParaRPr lang="en-US" sz="1250" dirty="0"/>
          </a:p>
          <a:p>
            <a:pPr marL="342900" indent="-342900">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Compare: FDR-SVM, Over-the-Air FL, FedSSL-AMC</a:t>
            </a:r>
            <a:endParaRPr lang="en-US" sz="1250" dirty="0"/>
          </a:p>
          <a:p>
            <a:pPr marL="342900" indent="-342900">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Study Gossip vs Parallel, Sync vs Async</a:t>
            </a:r>
            <a:endParaRPr lang="en-US" sz="1250" dirty="0"/>
          </a:p>
        </p:txBody>
      </p:sp>
      <p:sp>
        <p:nvSpPr>
          <p:cNvPr id="11" name="Shape 9"/>
          <p:cNvSpPr/>
          <p:nvPr/>
        </p:nvSpPr>
        <p:spPr>
          <a:xfrm>
            <a:off x="6126480" y="1188720"/>
            <a:ext cx="2743200" cy="411480"/>
          </a:xfrm>
          <a:prstGeom prst="rect">
            <a:avLst/>
          </a:prstGeom>
          <a:solidFill>
            <a:srgbClr val="F59E0B"/>
          </a:solidFill>
          <a:ln w="12700">
            <a:solidFill>
              <a:srgbClr val="F59E0B"/>
            </a:solidFill>
            <a:prstDash val="solid"/>
          </a:ln>
        </p:spPr>
      </p:sp>
      <p:sp>
        <p:nvSpPr>
          <p:cNvPr id="12" name="Text 10"/>
          <p:cNvSpPr/>
          <p:nvPr/>
        </p:nvSpPr>
        <p:spPr>
          <a:xfrm>
            <a:off x="6126480" y="1188720"/>
            <a:ext cx="2743200" cy="411480"/>
          </a:xfrm>
          <a:prstGeom prst="rect">
            <a:avLst/>
          </a:prstGeom>
          <a:noFill/>
          <a:ln/>
        </p:spPr>
        <p:txBody>
          <a:bodyPr wrap="square" rtlCol="0" anchor="ctr"/>
          <a:lstStyle/>
          <a:p>
            <a:pPr algn="ctr" indent="0" marL="0">
              <a:buNone/>
            </a:pPr>
            <a:r>
              <a:rPr lang="en-US" sz="1500" b="1" dirty="0">
                <a:solidFill>
                  <a:srgbClr val="111827"/>
                </a:solidFill>
                <a:latin typeface="Calibri" pitchFamily="34" charset="0"/>
                <a:ea typeface="Calibri" pitchFamily="34" charset="-122"/>
                <a:cs typeface="Calibri" pitchFamily="34" charset="-120"/>
              </a:rPr>
              <a:t>Later</a:t>
            </a:r>
            <a:endParaRPr lang="en-US" sz="1500" dirty="0"/>
          </a:p>
        </p:txBody>
      </p:sp>
      <p:sp>
        <p:nvSpPr>
          <p:cNvPr id="13" name="Shape 11"/>
          <p:cNvSpPr/>
          <p:nvPr/>
        </p:nvSpPr>
        <p:spPr>
          <a:xfrm>
            <a:off x="6126480" y="1600200"/>
            <a:ext cx="2743200" cy="3200400"/>
          </a:xfrm>
          <a:prstGeom prst="rect">
            <a:avLst/>
          </a:prstGeom>
          <a:solidFill>
            <a:srgbClr val="1E3A5F"/>
          </a:solidFill>
          <a:ln w="12700">
            <a:solidFill>
              <a:srgbClr val="F59E0B"/>
            </a:solidFill>
            <a:prstDash val="solid"/>
          </a:ln>
        </p:spPr>
      </p:sp>
      <p:sp>
        <p:nvSpPr>
          <p:cNvPr id="14" name="Text 12"/>
          <p:cNvSpPr/>
          <p:nvPr/>
        </p:nvSpPr>
        <p:spPr>
          <a:xfrm>
            <a:off x="6217920" y="1691640"/>
            <a:ext cx="2560320" cy="3017520"/>
          </a:xfrm>
          <a:prstGeom prst="rect">
            <a:avLst/>
          </a:prstGeom>
          <a:noFill/>
          <a:ln/>
        </p:spPr>
        <p:txBody>
          <a:bodyPr wrap="square" rtlCol="0" anchor="ctr"/>
          <a:lstStyle/>
          <a:p>
            <a:pPr marL="342900" indent="-342900">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True distributed test with MMLL Comms</a:t>
            </a:r>
            <a:endParaRPr lang="en-US" sz="1250" dirty="0"/>
          </a:p>
          <a:p>
            <a:pPr marL="342900" indent="-342900">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Code annotation and documentation</a:t>
            </a:r>
            <a:endParaRPr lang="en-US" sz="1250" dirty="0"/>
          </a:p>
          <a:p>
            <a:pPr marL="342900" indent="-342900">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Paper results for INFORMS WDS 2026</a:t>
            </a:r>
            <a:endParaRPr lang="en-US" sz="1250" dirty="0"/>
          </a:p>
        </p:txBody>
      </p:sp>
      <p:sp>
        <p:nvSpPr>
          <p:cNvPr id="15" name="Text 13"/>
          <p:cNvSpPr/>
          <p:nvPr/>
        </p:nvSpPr>
        <p:spPr>
          <a:xfrm>
            <a:off x="457200" y="4800600"/>
            <a:ext cx="8229600" cy="274320"/>
          </a:xfrm>
          <a:prstGeom prst="rect">
            <a:avLst/>
          </a:prstGeom>
          <a:noFill/>
          <a:ln/>
        </p:spPr>
        <p:txBody>
          <a:bodyPr wrap="square" rtlCol="0" anchor="ctr"/>
          <a:lstStyle/>
          <a:p>
            <a:pPr algn="ctr" indent="0" marL="0">
              <a:buNone/>
            </a:pPr>
            <a:r>
              <a:rPr lang="en-US" sz="1400" i="1" dirty="0">
                <a:solidFill>
                  <a:srgbClr val="CADCFC"/>
                </a:solidFill>
                <a:latin typeface="Calibri" pitchFamily="34" charset="0"/>
                <a:ea typeface="Calibri" pitchFamily="34" charset="-122"/>
                <a:cs typeface="Calibri" pitchFamily="34" charset="-120"/>
              </a:rPr>
              <a:t>Thank you  ·  Questions welcome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BDSVM</dc:title>
  <dc:subject>PptxGenJS Presentation</dc:subject>
  <dc:creator>Lincoln Zhou (Jiaye Zhou)</dc:creator>
  <cp:lastModifiedBy>Lincoln Zhou (Jiaye Zhou)</cp:lastModifiedBy>
  <cp:revision>1</cp:revision>
  <dcterms:created xsi:type="dcterms:W3CDTF">2026-05-22T12:35:22Z</dcterms:created>
  <dcterms:modified xsi:type="dcterms:W3CDTF">2026-05-22T12:35:22Z</dcterms:modified>
</cp:coreProperties>
</file>